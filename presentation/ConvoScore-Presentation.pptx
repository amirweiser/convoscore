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this is a small service that scores support conversations with an LLM and makes the results reviewable and observable - built to show how I'd design, deploy, and operate a real system, not just make a demo run once.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so the reviewer sees I read the brief as a set of constraints, not just a feature list. Additional scope notes if asked: kept deliberately right-sized — no CI, no service mesh, no ORM, no new database. The two constraints on the right (SQS at-least-once, LLM-call/DB-commit non-atomicity) shape almost every design choice in the rest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diagram is 'one pipeline, two doors in.' Whether a conversation arrives via the API or lands in S3 directly, it converges on the exact same S3 -&gt; SQS -&gt; worker code path - there's no special-casing based on how it arrived. The amber line is the one part that's NOT on that shared path: the API writes the 'pending' row straight to Postgres, synchronously, before it ever touches S3, so the id exists immediately and the caller gets a stable status URL right away.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path detail: the request body is validated through the same Pydantic model the worker also uses (rejects missing/empty/whitespace-only/non-string/over-20,000 character text). If the S3 write's outcome is genuinely unknown (e.g. a timeout), the row stays visible and pending rather than being silently deleted - deleting on an ambiguous failure could erase a conversation S3 actually accepted.</a:t>
            </a:r>
          </a:p>
          <a:p/>
          <a:p>
            <a:r>
              <a:t>Direct-upload detail: source_key (the S3 key) is the idempotency anchor, since a direct upload never gets an id from the API. A UNIQUE constraint on source_key means the same key uploaded twice finds the existing row instead of duplicating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Trigger is SQS visibility, full stop - the worker is a simple poll loop, nothing depends on the API being up. Idempotency: source_key is UNIQUE. Claim fencing (the load-bearing safety net): every claim gets a fresh processing_token, so a superseded/slower attempt is rejected at the database level rather than silently overwriting a newer, correct result - without it, 'whoever writes last wins' could clobber a good row with a stale one. Honest remaining gap: a crash between 'OpenAI answered' and 'the guarded commit landed' can still cause one extra paid OpenAI call - SQS is at-least-once and an LLM call can't be made atomic with a DB commit.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result also captures model name, prompt version, input/output token counts, and an estimated cost in USD from a hardcoded per-model price table (an estimate, not a billing feed). Retries use one mechanism (tenacity with exponential backoff) - the SDK's own built-in retries are explicitly disabled so there's exactly one retry policy to reason about, not two stacked on each other. The API-can't-leak-the-key point is a fact about the deployment, not just a policy: the key is never injected into that pod's environment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screenshot is a real conversation from the deployed system, not a mock. Durability is demonstrated, not just claimed: the restart demo captures a completed row's full result before deleting the API, worker, and Postgres pods, then proves the row is byte-for-byte identical afterward, including completed_at - a re-scored duplicate would also say 'completed' but with a different timestamp, so that field is the real proof, not just the status.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On-call would watch: DLQ depth rising, two 'last progress' staleness gauges on the worker loop and DLQ collector (a bare TCP liveness check only proves the process is alive, not that it's doing anything - these catch a wedged loop that liveness alone would miss), the API's 5xx rate, and the cost counter's rate of change as a runaway-spend signal. Both screenshots are from the live deployed system. Worth mentioning if asked: found and fixed a real bug preparing these - the health gauges are defined in a module shared by both API and worker processes, so without a job-label filter the API's own always-zero copy made both alerts fire permanently. Exactly the kind of false positive that trains on-call to ignore alerts.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Docker: multi-stage build - a builder stage installs dependencies into a venv, the runtime stage copies only that venv plus app/, no git metadata/tests/Terraform state. Deploy safety: deploy.sh tags images with the current git SHA and refuses to build at all if any tracked source/Docker/Helm/Terraform file has uncommitted changes, so one tag can never silently point at two different images. Least privilege specifics: the API can only PutObject under incoming/*; the worker can GetObject there and Receive/Delete/GetAttributes only on the processing queue plus GetUrl/GetAttributes on the DLQ - never a wildcard resource. Honest caveat: LocalStack Community doesn't enforce IAM at the API-call level, so these policies show the intended real-AWS shape, not a currently-enforced restriction.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proposed future CI/CD path, not something implemented in this take-home - worth being explicit about that distinction if asked. The flow: a commit to the application repo triggers CI (tests, security scanning, image build, SHA tag, push to a registry), which then updates the image tag in a separate GitOps repo; Argo CD watches that repo and reconciles the cluster to match it. Rollback becomes 'revert a Git commit,' not 'run a manual kubectl command.' Separating the GitOps repo from the application repo also means environment-specific Helm values (dev/staging/prod) never need to touch the application codebase.</a:t>
            </a:r>
          </a:p>
          <a:p/>
          <a:p>
            <a:r>
              <a:t>Honest tradeoffs/exclusions worth naming if asked, since they're not their own slide anymore: no exactly-once processing claim anywhere (SQS is at-least-once by design); a crash between an OpenAI response and the DB commit can still cause one extra paid call, bounded and rare, not eliminated (narrowed - not solved - by an idempotency key on the LLM call, not a transactional outbox, since the non-atomic boundary is an external API call, not two local writes); LocalStack doesn't enforce the IAM policies Terraform defines; and the take-home was scoped down on purpose - no CI, no service mesh, no ORM, no new database.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53A"/>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42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6200" cy="685800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9601200" cy="320040"/>
          </a:xfrm>
          <a:prstGeom prst="rect">
            <a:avLst/>
          </a:prstGeom>
          <a:noFill/>
        </p:spPr>
        <p:txBody>
          <a:bodyPr wrap="none">
            <a:spAutoFit/>
          </a:bodyPr>
          <a:lstStyle/>
          <a:p>
            <a:r>
              <a:rPr sz="1300" b="1" i="0" spc="200">
                <a:solidFill>
                  <a:srgbClr val="6FC7C2"/>
                </a:solidFill>
                <a:latin typeface="Segoe UI"/>
              </a:rPr>
              <a:t>SOLUTION ENGINEERING / DEVOPS TAKE-HOME</a:t>
            </a:r>
          </a:p>
        </p:txBody>
      </p:sp>
      <p:sp>
        <p:nvSpPr>
          <p:cNvPr id="5" name="TextBox 4"/>
          <p:cNvSpPr txBox="1"/>
          <p:nvPr/>
        </p:nvSpPr>
        <p:spPr>
          <a:xfrm>
            <a:off x="877824" y="2331720"/>
            <a:ext cx="10058400" cy="1188720"/>
          </a:xfrm>
          <a:prstGeom prst="rect">
            <a:avLst/>
          </a:prstGeom>
          <a:noFill/>
        </p:spPr>
        <p:txBody>
          <a:bodyPr wrap="none">
            <a:spAutoFit/>
          </a:bodyPr>
          <a:lstStyle/>
          <a:p>
            <a:r>
              <a:rPr sz="5600" b="1" i="0">
                <a:solidFill>
                  <a:srgbClr val="FFFFFF"/>
                </a:solidFill>
                <a:latin typeface="Segoe UI"/>
              </a:rPr>
              <a:t>ConvoScore</a:t>
            </a:r>
          </a:p>
        </p:txBody>
      </p:sp>
      <p:sp>
        <p:nvSpPr>
          <p:cNvPr id="6" name="TextBox 5"/>
          <p:cNvSpPr txBox="1"/>
          <p:nvPr/>
        </p:nvSpPr>
        <p:spPr>
          <a:xfrm>
            <a:off x="914400" y="3337560"/>
            <a:ext cx="9418320" cy="822960"/>
          </a:xfrm>
          <a:prstGeom prst="rect">
            <a:avLst/>
          </a:prstGeom>
          <a:noFill/>
        </p:spPr>
        <p:txBody>
          <a:bodyPr wrap="square">
            <a:spAutoFit/>
          </a:bodyPr>
          <a:lstStyle/>
          <a:p>
            <a:r>
              <a:rPr sz="1900" b="0" i="0">
                <a:solidFill>
                  <a:srgbClr val="C3CFD9"/>
                </a:solidFill>
                <a:latin typeface="Segoe UI"/>
              </a:rPr>
              <a:t>Turning raw support conversations into a scored, reviewable, on-call-ready pipeline.</a:t>
            </a:r>
          </a:p>
        </p:txBody>
      </p:sp>
      <p:sp>
        <p:nvSpPr>
          <p:cNvPr id="7" name="TextBox 6"/>
          <p:cNvSpPr txBox="1"/>
          <p:nvPr/>
        </p:nvSpPr>
        <p:spPr>
          <a:xfrm>
            <a:off x="914400" y="5989320"/>
            <a:ext cx="9144000" cy="365760"/>
          </a:xfrm>
          <a:prstGeom prst="rect">
            <a:avLst/>
          </a:prstGeom>
          <a:noFill/>
        </p:spPr>
        <p:txBody>
          <a:bodyPr wrap="none">
            <a:spAutoFit/>
          </a:bodyPr>
          <a:lstStyle/>
          <a:p>
            <a:r>
              <a:rPr sz="1300" b="1" i="0">
                <a:solidFill>
                  <a:srgbClr val="9BABB8"/>
                </a:solidFill>
                <a:latin typeface="Segoe UI"/>
              </a:rPr>
              <a:t>Amir Weiser</a:t>
            </a:r>
            <a:r>
              <a:rPr sz="1300" b="0" i="0">
                <a:solidFill>
                  <a:srgbClr val="6E808F"/>
                </a:solidFill>
                <a:latin typeface="Segoe UI"/>
              </a:rPr>
              <a:t>   ·   Architecture, ingestion, scoring, deployment,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640080" y="384048"/>
            <a:ext cx="9601200" cy="292608"/>
          </a:xfrm>
          <a:prstGeom prst="rect">
            <a:avLst/>
          </a:prstGeom>
          <a:noFill/>
        </p:spPr>
        <p:txBody>
          <a:bodyPr wrap="none">
            <a:spAutoFit/>
          </a:bodyPr>
          <a:lstStyle/>
          <a:p>
            <a:r>
              <a:rPr sz="1250" b="1" i="0" spc="160">
                <a:solidFill>
                  <a:srgbClr val="168A86"/>
                </a:solidFill>
                <a:latin typeface="Segoe UI"/>
              </a:rPr>
              <a:t>OVERVIEW</a:t>
            </a:r>
          </a:p>
        </p:txBody>
      </p:sp>
      <p:sp>
        <p:nvSpPr>
          <p:cNvPr id="3" name="TextBox 2"/>
          <p:cNvSpPr txBox="1"/>
          <p:nvPr/>
        </p:nvSpPr>
        <p:spPr>
          <a:xfrm>
            <a:off x="612647" y="658368"/>
            <a:ext cx="10607040" cy="640080"/>
          </a:xfrm>
          <a:prstGeom prst="rect">
            <a:avLst/>
          </a:prstGeom>
          <a:noFill/>
        </p:spPr>
        <p:txBody>
          <a:bodyPr wrap="square">
            <a:spAutoFit/>
          </a:bodyPr>
          <a:lstStyle/>
          <a:p>
            <a:r>
              <a:rPr sz="2700" b="1" i="0">
                <a:solidFill>
                  <a:srgbClr val="14253A"/>
                </a:solidFill>
                <a:latin typeface="Segoe UI"/>
              </a:rPr>
              <a:t>What ConvoScore does, and why it's shaped this way</a:t>
            </a:r>
          </a:p>
        </p:txBody>
      </p:sp>
      <p:sp>
        <p:nvSpPr>
          <p:cNvPr id="4" name="Rectangle 3"/>
          <p:cNvSpPr/>
          <p:nvPr/>
        </p:nvSpPr>
        <p:spPr>
          <a:xfrm>
            <a:off x="640080" y="1353312"/>
            <a:ext cx="1051560" cy="3810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37360"/>
            <a:ext cx="5074920" cy="3977639"/>
          </a:xfrm>
          <a:prstGeom prst="roundRect">
            <a:avLst>
              <a:gd name="adj" fmla="val 3500"/>
            </a:avLst>
          </a:prstGeom>
          <a:solidFill>
            <a:srgbClr val="FFFFFF"/>
          </a:solidFill>
          <a:ln w="9525">
            <a:solidFill>
              <a:srgbClr val="E1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86384" y="1737360"/>
            <a:ext cx="4782312" cy="4064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38528"/>
            <a:ext cx="4572000" cy="365760"/>
          </a:xfrm>
          <a:prstGeom prst="rect">
            <a:avLst/>
          </a:prstGeom>
          <a:noFill/>
        </p:spPr>
        <p:txBody>
          <a:bodyPr wrap="none">
            <a:spAutoFit/>
          </a:bodyPr>
          <a:lstStyle/>
          <a:p>
            <a:r>
              <a:rPr sz="1600" b="1" i="0">
                <a:solidFill>
                  <a:srgbClr val="14253A"/>
                </a:solidFill>
                <a:latin typeface="Segoe UI"/>
              </a:rPr>
              <a:t>What it does</a:t>
            </a:r>
          </a:p>
        </p:txBody>
      </p:sp>
      <p:sp>
        <p:nvSpPr>
          <p:cNvPr id="8" name="TextBox 7"/>
          <p:cNvSpPr txBox="1"/>
          <p:nvPr/>
        </p:nvSpPr>
        <p:spPr>
          <a:xfrm>
            <a:off x="914400" y="2423160"/>
            <a:ext cx="4526280" cy="3108960"/>
          </a:xfrm>
          <a:prstGeom prst="rect">
            <a:avLst/>
          </a:prstGeom>
          <a:noFill/>
        </p:spPr>
        <p:txBody>
          <a:bodyPr wrap="square">
            <a:spAutoFit/>
          </a:bodyPr>
          <a:lstStyle/>
          <a:p>
            <a:pPr>
              <a:lnSpc>
                <a:spcPct val="110000"/>
              </a:lnSpc>
              <a:spcAft>
                <a:spcPts val="1600"/>
              </a:spcAft>
            </a:pPr>
            <a:r>
              <a:rPr sz="1450" b="1" i="0">
                <a:solidFill>
                  <a:srgbClr val="168A86"/>
                </a:solidFill>
                <a:latin typeface="Segoe UI"/>
              </a:rPr>
              <a:t>▸  </a:t>
            </a:r>
            <a:r>
              <a:rPr sz="1450" b="1" i="0">
                <a:solidFill>
                  <a:srgbClr val="14253A"/>
                </a:solidFill>
                <a:latin typeface="Segoe UI"/>
              </a:rPr>
              <a:t>Ingests support conversations two ways</a:t>
            </a:r>
            <a:r>
              <a:rPr sz="1450" b="0" i="0">
                <a:solidFill>
                  <a:srgbClr val="1E242B"/>
                </a:solidFill>
                <a:latin typeface="Segoe UI"/>
              </a:rPr>
              <a:t> — an API call, or a file dropped into storage</a:t>
            </a:r>
          </a:p>
          <a:p>
            <a:pPr>
              <a:lnSpc>
                <a:spcPct val="110000"/>
              </a:lnSpc>
              <a:spcAft>
                <a:spcPts val="1600"/>
              </a:spcAft>
            </a:pPr>
            <a:r>
              <a:rPr sz="1450" b="1" i="0">
                <a:solidFill>
                  <a:srgbClr val="168A86"/>
                </a:solidFill>
                <a:latin typeface="Segoe UI"/>
              </a:rPr>
              <a:t>▸  </a:t>
            </a:r>
            <a:r>
              <a:rPr sz="1450" b="1" i="0">
                <a:solidFill>
                  <a:srgbClr val="14253A"/>
                </a:solidFill>
                <a:latin typeface="Segoe UI"/>
              </a:rPr>
              <a:t>Scores each one with an LLM</a:t>
            </a:r>
            <a:r>
              <a:rPr sz="1450" b="0" i="0">
                <a:solidFill>
                  <a:srgbClr val="1E242B"/>
                </a:solidFill>
                <a:latin typeface="Segoe UI"/>
              </a:rPr>
              <a:t> — sentiment, a 0–1 risk score, a short rationale</a:t>
            </a:r>
          </a:p>
          <a:p>
            <a:pPr>
              <a:lnSpc>
                <a:spcPct val="110000"/>
              </a:lnSpc>
              <a:spcAft>
                <a:spcPts val="1600"/>
              </a:spcAft>
            </a:pPr>
            <a:r>
              <a:rPr sz="1450" b="1" i="0">
                <a:solidFill>
                  <a:srgbClr val="168A86"/>
                </a:solidFill>
                <a:latin typeface="Segoe UI"/>
              </a:rPr>
              <a:t>▸  </a:t>
            </a:r>
            <a:r>
              <a:rPr sz="1450" b="1" i="0">
                <a:solidFill>
                  <a:srgbClr val="14253A"/>
                </a:solidFill>
                <a:latin typeface="Segoe UI"/>
              </a:rPr>
              <a:t>Stores results durably and makes them reviewable by a person</a:t>
            </a:r>
            <a:r>
              <a:rPr sz="1450" b="0" i="0">
                <a:solidFill>
                  <a:srgbClr val="1E242B"/>
                </a:solidFill>
                <a:latin typeface="Segoe UI"/>
              </a:rPr>
              <a:t> — no separate frontend</a:t>
            </a:r>
          </a:p>
        </p:txBody>
      </p:sp>
      <p:sp>
        <p:nvSpPr>
          <p:cNvPr id="9" name="Rounded Rectangle 8"/>
          <p:cNvSpPr/>
          <p:nvPr/>
        </p:nvSpPr>
        <p:spPr>
          <a:xfrm>
            <a:off x="6172200" y="1737360"/>
            <a:ext cx="5074920" cy="3977639"/>
          </a:xfrm>
          <a:prstGeom prst="roundRect">
            <a:avLst>
              <a:gd name="adj" fmla="val 3500"/>
            </a:avLst>
          </a:prstGeom>
          <a:solidFill>
            <a:srgbClr val="FFFFFF"/>
          </a:solidFill>
          <a:ln w="9525">
            <a:solidFill>
              <a:srgbClr val="E1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18504" y="1737360"/>
            <a:ext cx="4782312" cy="40640"/>
          </a:xfrm>
          <a:prstGeom prst="rect">
            <a:avLst/>
          </a:prstGeom>
          <a:solidFill>
            <a:srgbClr val="C9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938528"/>
            <a:ext cx="4572000" cy="365760"/>
          </a:xfrm>
          <a:prstGeom prst="rect">
            <a:avLst/>
          </a:prstGeom>
          <a:noFill/>
        </p:spPr>
        <p:txBody>
          <a:bodyPr wrap="none">
            <a:spAutoFit/>
          </a:bodyPr>
          <a:lstStyle/>
          <a:p>
            <a:r>
              <a:rPr sz="1600" b="1" i="0">
                <a:solidFill>
                  <a:srgbClr val="14253A"/>
                </a:solidFill>
                <a:latin typeface="Segoe UI"/>
              </a:rPr>
              <a:t>Why this architecture</a:t>
            </a:r>
          </a:p>
        </p:txBody>
      </p:sp>
      <p:sp>
        <p:nvSpPr>
          <p:cNvPr id="12" name="TextBox 11"/>
          <p:cNvSpPr txBox="1"/>
          <p:nvPr/>
        </p:nvSpPr>
        <p:spPr>
          <a:xfrm>
            <a:off x="6446520" y="2423160"/>
            <a:ext cx="4526280" cy="3108960"/>
          </a:xfrm>
          <a:prstGeom prst="rect">
            <a:avLst/>
          </a:prstGeom>
          <a:noFill/>
        </p:spPr>
        <p:txBody>
          <a:bodyPr wrap="square">
            <a:spAutoFit/>
          </a:bodyPr>
          <a:lstStyle/>
          <a:p>
            <a:pPr>
              <a:lnSpc>
                <a:spcPct val="110000"/>
              </a:lnSpc>
              <a:spcAft>
                <a:spcPts val="1600"/>
              </a:spcAft>
            </a:pPr>
            <a:r>
              <a:rPr sz="1450" b="1" i="0">
                <a:solidFill>
                  <a:srgbClr val="C97A1A"/>
                </a:solidFill>
                <a:latin typeface="Segoe UI"/>
              </a:rPr>
              <a:t>▸  </a:t>
            </a:r>
            <a:r>
              <a:rPr sz="1450" b="1" i="0">
                <a:solidFill>
                  <a:srgbClr val="14253A"/>
                </a:solidFill>
                <a:latin typeface="Segoe UI"/>
              </a:rPr>
              <a:t>Decouples ingestion from scoring</a:t>
            </a:r>
            <a:r>
              <a:rPr sz="1450" b="0" i="0">
                <a:solidFill>
                  <a:srgbClr val="1E242B"/>
                </a:solidFill>
                <a:latin typeface="Segoe UI"/>
              </a:rPr>
              <a:t> — a slow or failed OpenAI call never blocks the caller</a:t>
            </a:r>
          </a:p>
          <a:p>
            <a:pPr>
              <a:lnSpc>
                <a:spcPct val="110000"/>
              </a:lnSpc>
              <a:spcAft>
                <a:spcPts val="1600"/>
              </a:spcAft>
            </a:pPr>
            <a:r>
              <a:rPr sz="1450" b="1" i="0">
                <a:solidFill>
                  <a:srgbClr val="C97A1A"/>
                </a:solidFill>
                <a:latin typeface="Segoe UI"/>
              </a:rPr>
              <a:t>▸  </a:t>
            </a:r>
            <a:r>
              <a:rPr sz="1450" b="1" i="0">
                <a:solidFill>
                  <a:srgbClr val="14253A"/>
                </a:solidFill>
                <a:latin typeface="Segoe UI"/>
              </a:rPr>
              <a:t>One shared pipeline behind both entry points</a:t>
            </a:r>
            <a:r>
              <a:rPr sz="1450" b="0" i="0">
                <a:solidFill>
                  <a:srgbClr val="1E242B"/>
                </a:solidFill>
                <a:latin typeface="Segoe UI"/>
              </a:rPr>
              <a:t> — one code path to trust and test</a:t>
            </a:r>
          </a:p>
          <a:p>
            <a:pPr>
              <a:lnSpc>
                <a:spcPct val="110000"/>
              </a:lnSpc>
              <a:spcAft>
                <a:spcPts val="1600"/>
              </a:spcAft>
            </a:pPr>
            <a:r>
              <a:rPr sz="1450" b="1" i="0">
                <a:solidFill>
                  <a:srgbClr val="C97A1A"/>
                </a:solidFill>
                <a:latin typeface="Segoe UI"/>
              </a:rPr>
              <a:t>▸  </a:t>
            </a:r>
            <a:r>
              <a:rPr sz="1450" b="1" i="0">
                <a:solidFill>
                  <a:srgbClr val="14253A"/>
                </a:solidFill>
                <a:latin typeface="Segoe UI"/>
              </a:rPr>
              <a:t>Designed around two honest constraints</a:t>
            </a:r>
            <a:r>
              <a:rPr sz="1450" b="0" i="0">
                <a:solidFill>
                  <a:srgbClr val="1E242B"/>
                </a:solidFill>
                <a:latin typeface="Segoe UI"/>
              </a:rPr>
              <a:t> — SQS is at-least-once, and an LLM call can't be made atomic with a DB commit</a:t>
            </a:r>
          </a:p>
        </p:txBody>
      </p:sp>
      <p:sp>
        <p:nvSpPr>
          <p:cNvPr id="13" name="Rectangle 12"/>
          <p:cNvSpPr/>
          <p:nvPr/>
        </p:nvSpPr>
        <p:spPr>
          <a:xfrm>
            <a:off x="640080" y="6272784"/>
            <a:ext cx="10911535" cy="9525"/>
          </a:xfrm>
          <a:prstGeom prst="rect">
            <a:avLst/>
          </a:prstGeom>
          <a:solidFill>
            <a:srgbClr val="E1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382512"/>
            <a:ext cx="7315200" cy="292608"/>
          </a:xfrm>
          <a:prstGeom prst="rect">
            <a:avLst/>
          </a:prstGeom>
          <a:noFill/>
        </p:spPr>
        <p:txBody>
          <a:bodyPr wrap="none">
            <a:spAutoFit/>
          </a:bodyPr>
          <a:lstStyle/>
          <a:p>
            <a:r>
              <a:rPr sz="1000" b="0" i="0">
                <a:solidFill>
                  <a:srgbClr val="626E79"/>
                </a:solidFill>
                <a:latin typeface="Segoe UI"/>
              </a:rPr>
              <a:t>ConvoScore  ·  Overview</a:t>
            </a:r>
          </a:p>
        </p:txBody>
      </p:sp>
      <p:sp>
        <p:nvSpPr>
          <p:cNvPr id="15" name="TextBox 14"/>
          <p:cNvSpPr txBox="1"/>
          <p:nvPr/>
        </p:nvSpPr>
        <p:spPr>
          <a:xfrm>
            <a:off x="10362895" y="6382512"/>
            <a:ext cx="1188720" cy="292608"/>
          </a:xfrm>
          <a:prstGeom prst="rect">
            <a:avLst/>
          </a:prstGeom>
          <a:noFill/>
        </p:spPr>
        <p:txBody>
          <a:bodyPr wrap="none">
            <a:spAutoFit/>
          </a:bodyPr>
          <a:lstStyle/>
          <a:p>
            <a:pPr algn="r"/>
            <a:r>
              <a:rPr sz="1000" b="0" i="0">
                <a:solidFill>
                  <a:srgbClr val="B7C2CC"/>
                </a:solidFill>
                <a:latin typeface="Segoe UI"/>
              </a:rPr>
              <a:t>02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640080" y="384048"/>
            <a:ext cx="9601200" cy="292608"/>
          </a:xfrm>
          <a:prstGeom prst="rect">
            <a:avLst/>
          </a:prstGeom>
          <a:noFill/>
        </p:spPr>
        <p:txBody>
          <a:bodyPr wrap="none">
            <a:spAutoFit/>
          </a:bodyPr>
          <a:lstStyle/>
          <a:p>
            <a:r>
              <a:rPr sz="1250" b="1" i="0" spc="160">
                <a:solidFill>
                  <a:srgbClr val="168A86"/>
                </a:solidFill>
                <a:latin typeface="Segoe UI"/>
              </a:rPr>
              <a:t>ARCHITECTURE</a:t>
            </a:r>
          </a:p>
        </p:txBody>
      </p:sp>
      <p:sp>
        <p:nvSpPr>
          <p:cNvPr id="3" name="TextBox 2"/>
          <p:cNvSpPr txBox="1"/>
          <p:nvPr/>
        </p:nvSpPr>
        <p:spPr>
          <a:xfrm>
            <a:off x="612647" y="658368"/>
            <a:ext cx="10607040" cy="640080"/>
          </a:xfrm>
          <a:prstGeom prst="rect">
            <a:avLst/>
          </a:prstGeom>
          <a:noFill/>
        </p:spPr>
        <p:txBody>
          <a:bodyPr wrap="square">
            <a:spAutoFit/>
          </a:bodyPr>
          <a:lstStyle/>
          <a:p>
            <a:r>
              <a:rPr sz="2700" b="1" i="0">
                <a:solidFill>
                  <a:srgbClr val="14253A"/>
                </a:solidFill>
                <a:latin typeface="Segoe UI"/>
              </a:rPr>
              <a:t>One pipeline, two doors in</a:t>
            </a:r>
          </a:p>
        </p:txBody>
      </p:sp>
      <p:sp>
        <p:nvSpPr>
          <p:cNvPr id="4" name="Rectangle 3"/>
          <p:cNvSpPr/>
          <p:nvPr/>
        </p:nvSpPr>
        <p:spPr>
          <a:xfrm>
            <a:off x="640080" y="1353312"/>
            <a:ext cx="1051560" cy="3810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1691640" cy="731520"/>
          </a:xfrm>
          <a:prstGeom prst="roundRect">
            <a:avLst>
              <a:gd name="adj" fmla="val 12000"/>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API
POST /conversations</a:t>
            </a:r>
          </a:p>
        </p:txBody>
      </p:sp>
      <p:sp>
        <p:nvSpPr>
          <p:cNvPr id="6" name="Rounded Rectangle 5"/>
          <p:cNvSpPr/>
          <p:nvPr/>
        </p:nvSpPr>
        <p:spPr>
          <a:xfrm>
            <a:off x="640080" y="3063240"/>
            <a:ext cx="1691640" cy="731520"/>
          </a:xfrm>
          <a:prstGeom prst="roundRect">
            <a:avLst>
              <a:gd name="adj" fmla="val 12000"/>
            </a:avLst>
          </a:prstGeom>
          <a:solidFill>
            <a:srgbClr val="C97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Direct upload
(no API call)</a:t>
            </a:r>
          </a:p>
        </p:txBody>
      </p:sp>
      <p:sp>
        <p:nvSpPr>
          <p:cNvPr id="7" name="Rounded Rectangle 6"/>
          <p:cNvSpPr/>
          <p:nvPr/>
        </p:nvSpPr>
        <p:spPr>
          <a:xfrm>
            <a:off x="2880360" y="2542032"/>
            <a:ext cx="1554480" cy="777240"/>
          </a:xfrm>
          <a:prstGeom prst="roundRect">
            <a:avLst>
              <a:gd name="adj" fmla="val 12000"/>
            </a:avLst>
          </a:prstGeom>
          <a:solidFill>
            <a:srgbClr val="4A5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S3
incoming/{id}.json</a:t>
            </a:r>
          </a:p>
        </p:txBody>
      </p:sp>
      <p:sp>
        <p:nvSpPr>
          <p:cNvPr id="8" name="Rounded Rectangle 7"/>
          <p:cNvSpPr/>
          <p:nvPr/>
        </p:nvSpPr>
        <p:spPr>
          <a:xfrm>
            <a:off x="4892040" y="2542032"/>
            <a:ext cx="1554480" cy="777240"/>
          </a:xfrm>
          <a:prstGeom prst="roundRect">
            <a:avLst>
              <a:gd name="adj" fmla="val 12000"/>
            </a:avLst>
          </a:prstGeom>
          <a:solidFill>
            <a:srgbClr val="4A5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SQS
processing queue</a:t>
            </a:r>
          </a:p>
        </p:txBody>
      </p:sp>
      <p:sp>
        <p:nvSpPr>
          <p:cNvPr id="9" name="Rounded Rectangle 8"/>
          <p:cNvSpPr/>
          <p:nvPr/>
        </p:nvSpPr>
        <p:spPr>
          <a:xfrm>
            <a:off x="6903720" y="2542032"/>
            <a:ext cx="1417320" cy="777240"/>
          </a:xfrm>
          <a:prstGeom prst="roundRect">
            <a:avLst>
              <a:gd name="adj" fmla="val 12000"/>
            </a:avLst>
          </a:prstGeom>
          <a:solidFill>
            <a:srgbClr val="0F66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Worker</a:t>
            </a:r>
          </a:p>
        </p:txBody>
      </p:sp>
      <p:sp>
        <p:nvSpPr>
          <p:cNvPr id="10" name="Rounded Rectangle 9"/>
          <p:cNvSpPr/>
          <p:nvPr/>
        </p:nvSpPr>
        <p:spPr>
          <a:xfrm>
            <a:off x="6903720" y="3703320"/>
            <a:ext cx="1417320" cy="685800"/>
          </a:xfrm>
          <a:prstGeom prst="roundRect">
            <a:avLst>
              <a:gd name="adj" fmla="val 12000"/>
            </a:avLst>
          </a:prstGeom>
          <a:solidFill>
            <a:srgbClr val="1425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OpenAI</a:t>
            </a:r>
          </a:p>
        </p:txBody>
      </p:sp>
      <p:sp>
        <p:nvSpPr>
          <p:cNvPr id="11" name="Rounded Rectangle 10"/>
          <p:cNvSpPr/>
          <p:nvPr/>
        </p:nvSpPr>
        <p:spPr>
          <a:xfrm>
            <a:off x="8823960" y="2542032"/>
            <a:ext cx="1508760" cy="777240"/>
          </a:xfrm>
          <a:prstGeom prst="roundRect">
            <a:avLst>
              <a:gd name="adj" fmla="val 12000"/>
            </a:avLst>
          </a:prstGeom>
          <a:solidFill>
            <a:srgbClr val="1425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PostgreSQL</a:t>
            </a:r>
          </a:p>
        </p:txBody>
      </p:sp>
      <p:sp>
        <p:nvSpPr>
          <p:cNvPr id="12" name="Rounded Rectangle 11"/>
          <p:cNvSpPr/>
          <p:nvPr/>
        </p:nvSpPr>
        <p:spPr>
          <a:xfrm>
            <a:off x="8823960" y="3703320"/>
            <a:ext cx="1508760" cy="685800"/>
          </a:xfrm>
          <a:prstGeom prst="roundRect">
            <a:avLst>
              <a:gd name="adj" fmla="val 12000"/>
            </a:avLst>
          </a:prstGeom>
          <a:solidFill>
            <a:srgbClr val="4A5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Review UI</a:t>
            </a:r>
          </a:p>
        </p:txBody>
      </p:sp>
      <p:sp>
        <p:nvSpPr>
          <p:cNvPr id="13" name="Rounded Rectangle 12"/>
          <p:cNvSpPr/>
          <p:nvPr/>
        </p:nvSpPr>
        <p:spPr>
          <a:xfrm>
            <a:off x="4892040" y="3703320"/>
            <a:ext cx="1554480" cy="685800"/>
          </a:xfrm>
          <a:prstGeom prst="roundRect">
            <a:avLst>
              <a:gd name="adj" fmla="val 12000"/>
            </a:avLst>
          </a:prstGeom>
          <a:solidFill>
            <a:srgbClr val="9E35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SQS DLQ</a:t>
            </a:r>
          </a:p>
        </p:txBody>
      </p:sp>
      <p:cxnSp>
        <p:nvCxnSpPr>
          <p:cNvPr id="14" name="Connector 13"/>
          <p:cNvCxnSpPr/>
          <p:nvPr/>
        </p:nvCxnSpPr>
        <p:spPr>
          <a:xfrm flipV="1">
            <a:off x="1485900" y="1755648"/>
            <a:ext cx="0" cy="256032"/>
          </a:xfrm>
          <a:prstGeom prst="line">
            <a:avLst/>
          </a:prstGeom>
          <a:ln w="20320">
            <a:solidFill>
              <a:srgbClr val="C97A1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485900" y="1755648"/>
            <a:ext cx="8092440" cy="0"/>
          </a:xfrm>
          <a:prstGeom prst="line">
            <a:avLst/>
          </a:prstGeom>
          <a:ln w="20320">
            <a:solidFill>
              <a:srgbClr val="C97A1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578340" y="1755648"/>
            <a:ext cx="0" cy="786384"/>
          </a:xfrm>
          <a:prstGeom prst="line">
            <a:avLst/>
          </a:prstGeom>
          <a:ln w="20320">
            <a:solidFill>
              <a:srgbClr val="C97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977639" y="1481328"/>
            <a:ext cx="3108960" cy="274320"/>
          </a:xfrm>
          <a:prstGeom prst="rect">
            <a:avLst/>
          </a:prstGeom>
          <a:noFill/>
        </p:spPr>
        <p:txBody>
          <a:bodyPr wrap="none" lIns="0" rIns="0">
            <a:spAutoFit/>
          </a:bodyPr>
          <a:lstStyle/>
          <a:p>
            <a:pPr algn="ctr"/>
            <a:r>
              <a:rPr sz="1050" b="0" i="0">
                <a:solidFill>
                  <a:srgbClr val="C97A1A"/>
                </a:solidFill>
                <a:latin typeface="Segoe UI"/>
              </a:rPr>
              <a:t>pending row (sync write)</a:t>
            </a:r>
          </a:p>
        </p:txBody>
      </p:sp>
      <p:cxnSp>
        <p:nvCxnSpPr>
          <p:cNvPr id="18" name="Connector 17"/>
          <p:cNvCxnSpPr/>
          <p:nvPr/>
        </p:nvCxnSpPr>
        <p:spPr>
          <a:xfrm>
            <a:off x="2331720" y="2377440"/>
            <a:ext cx="548640" cy="553211"/>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331720" y="2931566"/>
            <a:ext cx="548640" cy="497434"/>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34840" y="2930651"/>
            <a:ext cx="457200" cy="0"/>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57599" y="2286000"/>
            <a:ext cx="2011680" cy="274320"/>
          </a:xfrm>
          <a:prstGeom prst="rect">
            <a:avLst/>
          </a:prstGeom>
          <a:noFill/>
        </p:spPr>
        <p:txBody>
          <a:bodyPr wrap="none" lIns="0" rIns="0">
            <a:spAutoFit/>
          </a:bodyPr>
          <a:lstStyle/>
          <a:p>
            <a:pPr algn="ctr"/>
            <a:r>
              <a:rPr sz="1050" b="0" i="0">
                <a:solidFill>
                  <a:srgbClr val="626E79"/>
                </a:solidFill>
                <a:latin typeface="Segoe UI"/>
              </a:rPr>
              <a:t>S3 event</a:t>
            </a:r>
          </a:p>
        </p:txBody>
      </p:sp>
      <p:cxnSp>
        <p:nvCxnSpPr>
          <p:cNvPr id="22" name="Connector 21"/>
          <p:cNvCxnSpPr/>
          <p:nvPr/>
        </p:nvCxnSpPr>
        <p:spPr>
          <a:xfrm>
            <a:off x="6446520" y="2930651"/>
            <a:ext cx="457200" cy="0"/>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669279" y="2286000"/>
            <a:ext cx="2011680" cy="274320"/>
          </a:xfrm>
          <a:prstGeom prst="rect">
            <a:avLst/>
          </a:prstGeom>
          <a:noFill/>
        </p:spPr>
        <p:txBody>
          <a:bodyPr wrap="none" lIns="0" rIns="0">
            <a:spAutoFit/>
          </a:bodyPr>
          <a:lstStyle/>
          <a:p>
            <a:pPr algn="ctr"/>
            <a:r>
              <a:rPr sz="1050" b="0" i="0">
                <a:solidFill>
                  <a:srgbClr val="626E79"/>
                </a:solidFill>
                <a:latin typeface="Segoe UI"/>
              </a:rPr>
              <a:t>poll</a:t>
            </a:r>
          </a:p>
        </p:txBody>
      </p:sp>
      <p:cxnSp>
        <p:nvCxnSpPr>
          <p:cNvPr id="24" name="Connector 23"/>
          <p:cNvCxnSpPr/>
          <p:nvPr/>
        </p:nvCxnSpPr>
        <p:spPr>
          <a:xfrm>
            <a:off x="7612379" y="3319272"/>
            <a:ext cx="0" cy="384048"/>
          </a:xfrm>
          <a:prstGeom prst="line">
            <a:avLst/>
          </a:prstGeom>
          <a:ln w="22225">
            <a:solidFill>
              <a:srgbClr val="0F66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676387" y="3310128"/>
            <a:ext cx="1005840" cy="274320"/>
          </a:xfrm>
          <a:prstGeom prst="rect">
            <a:avLst/>
          </a:prstGeom>
          <a:noFill/>
        </p:spPr>
        <p:txBody>
          <a:bodyPr wrap="none" lIns="0" rIns="0">
            <a:spAutoFit/>
          </a:bodyPr>
          <a:lstStyle/>
          <a:p>
            <a:pPr algn="ctr"/>
            <a:r>
              <a:rPr sz="1050" b="0" i="0">
                <a:solidFill>
                  <a:srgbClr val="626E79"/>
                </a:solidFill>
                <a:latin typeface="Segoe UI"/>
              </a:rPr>
              <a:t>score</a:t>
            </a:r>
          </a:p>
        </p:txBody>
      </p:sp>
      <p:cxnSp>
        <p:nvCxnSpPr>
          <p:cNvPr id="26" name="Connector 25"/>
          <p:cNvCxnSpPr/>
          <p:nvPr/>
        </p:nvCxnSpPr>
        <p:spPr>
          <a:xfrm>
            <a:off x="8321040" y="2930651"/>
            <a:ext cx="502920" cy="0"/>
          </a:xfrm>
          <a:prstGeom prst="line">
            <a:avLst/>
          </a:prstGeom>
          <a:ln w="22225">
            <a:solidFill>
              <a:srgbClr val="0F66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566660" y="2286000"/>
            <a:ext cx="2011680" cy="274320"/>
          </a:xfrm>
          <a:prstGeom prst="rect">
            <a:avLst/>
          </a:prstGeom>
          <a:noFill/>
        </p:spPr>
        <p:txBody>
          <a:bodyPr wrap="none" lIns="0" rIns="0">
            <a:spAutoFit/>
          </a:bodyPr>
          <a:lstStyle/>
          <a:p>
            <a:pPr algn="ctr"/>
            <a:r>
              <a:rPr sz="1050" b="0" i="0">
                <a:solidFill>
                  <a:srgbClr val="626E79"/>
                </a:solidFill>
                <a:latin typeface="Segoe UI"/>
              </a:rPr>
              <a:t>store result</a:t>
            </a:r>
          </a:p>
        </p:txBody>
      </p:sp>
      <p:cxnSp>
        <p:nvCxnSpPr>
          <p:cNvPr id="28" name="Connector 27"/>
          <p:cNvCxnSpPr/>
          <p:nvPr/>
        </p:nvCxnSpPr>
        <p:spPr>
          <a:xfrm>
            <a:off x="9578340" y="3319272"/>
            <a:ext cx="0" cy="384048"/>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69279" y="3319272"/>
            <a:ext cx="0" cy="384048"/>
          </a:xfrm>
          <a:prstGeom prst="line">
            <a:avLst/>
          </a:prstGeom>
          <a:ln w="22225">
            <a:solidFill>
              <a:srgbClr val="9E353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714999" y="3456432"/>
            <a:ext cx="1463040" cy="274320"/>
          </a:xfrm>
          <a:prstGeom prst="rect">
            <a:avLst/>
          </a:prstGeom>
          <a:noFill/>
        </p:spPr>
        <p:txBody>
          <a:bodyPr wrap="none" lIns="0" rIns="0">
            <a:spAutoFit/>
          </a:bodyPr>
          <a:lstStyle/>
          <a:p>
            <a:pPr algn="ctr"/>
            <a:r>
              <a:rPr sz="1050" b="0" i="0">
                <a:solidFill>
                  <a:srgbClr val="9E3533"/>
                </a:solidFill>
                <a:latin typeface="Segoe UI"/>
              </a:rPr>
              <a:t>after 3 attempts</a:t>
            </a:r>
          </a:p>
        </p:txBody>
      </p:sp>
      <p:cxnSp>
        <p:nvCxnSpPr>
          <p:cNvPr id="31" name="Connector 30"/>
          <p:cNvCxnSpPr/>
          <p:nvPr/>
        </p:nvCxnSpPr>
        <p:spPr>
          <a:xfrm>
            <a:off x="640080" y="4636008"/>
            <a:ext cx="292608" cy="0"/>
          </a:xfrm>
          <a:prstGeom prst="line">
            <a:avLst/>
          </a:prstGeom>
          <a:ln w="25400">
            <a:solidFill>
              <a:srgbClr val="4A5A6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24127" y="4498848"/>
            <a:ext cx="2862072" cy="274320"/>
          </a:xfrm>
          <a:prstGeom prst="rect">
            <a:avLst/>
          </a:prstGeom>
          <a:noFill/>
        </p:spPr>
        <p:txBody>
          <a:bodyPr wrap="none">
            <a:spAutoFit/>
          </a:bodyPr>
          <a:lstStyle/>
          <a:p>
            <a:r>
              <a:rPr sz="1050" b="0" i="0">
                <a:solidFill>
                  <a:srgbClr val="626E79"/>
                </a:solidFill>
                <a:latin typeface="Segoe UI"/>
              </a:rPr>
              <a:t>pipeline flow</a:t>
            </a:r>
          </a:p>
        </p:txBody>
      </p:sp>
      <p:cxnSp>
        <p:nvCxnSpPr>
          <p:cNvPr id="33" name="Connector 32"/>
          <p:cNvCxnSpPr/>
          <p:nvPr/>
        </p:nvCxnSpPr>
        <p:spPr>
          <a:xfrm>
            <a:off x="3886200" y="4636008"/>
            <a:ext cx="292608" cy="0"/>
          </a:xfrm>
          <a:prstGeom prst="line">
            <a:avLst/>
          </a:prstGeom>
          <a:ln w="25400">
            <a:solidFill>
              <a:srgbClr val="C97A1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270248" y="4498848"/>
            <a:ext cx="2862072" cy="274320"/>
          </a:xfrm>
          <a:prstGeom prst="rect">
            <a:avLst/>
          </a:prstGeom>
          <a:noFill/>
        </p:spPr>
        <p:txBody>
          <a:bodyPr wrap="none">
            <a:spAutoFit/>
          </a:bodyPr>
          <a:lstStyle/>
          <a:p>
            <a:r>
              <a:rPr sz="1050" b="0" i="0">
                <a:solidFill>
                  <a:srgbClr val="626E79"/>
                </a:solidFill>
                <a:latin typeface="Segoe UI"/>
              </a:rPr>
              <a:t>pending-row write (sync)</a:t>
            </a:r>
          </a:p>
        </p:txBody>
      </p:sp>
      <p:cxnSp>
        <p:nvCxnSpPr>
          <p:cNvPr id="35" name="Connector 34"/>
          <p:cNvCxnSpPr/>
          <p:nvPr/>
        </p:nvCxnSpPr>
        <p:spPr>
          <a:xfrm>
            <a:off x="7132320" y="4636008"/>
            <a:ext cx="292607" cy="0"/>
          </a:xfrm>
          <a:prstGeom prst="line">
            <a:avLst/>
          </a:prstGeom>
          <a:ln w="25400">
            <a:solidFill>
              <a:srgbClr val="9E3533"/>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516368" y="4498848"/>
            <a:ext cx="2862072" cy="274320"/>
          </a:xfrm>
          <a:prstGeom prst="rect">
            <a:avLst/>
          </a:prstGeom>
          <a:noFill/>
        </p:spPr>
        <p:txBody>
          <a:bodyPr wrap="none">
            <a:spAutoFit/>
          </a:bodyPr>
          <a:lstStyle/>
          <a:p>
            <a:r>
              <a:rPr sz="1050" b="0" i="0">
                <a:solidFill>
                  <a:srgbClr val="626E79"/>
                </a:solidFill>
                <a:latin typeface="Segoe UI"/>
              </a:rPr>
              <a:t>exhausted after retries</a:t>
            </a:r>
          </a:p>
        </p:txBody>
      </p:sp>
      <p:sp>
        <p:nvSpPr>
          <p:cNvPr id="37" name="TextBox 36"/>
          <p:cNvSpPr txBox="1"/>
          <p:nvPr/>
        </p:nvSpPr>
        <p:spPr>
          <a:xfrm>
            <a:off x="640080" y="4937760"/>
            <a:ext cx="10881360" cy="1188720"/>
          </a:xfrm>
          <a:prstGeom prst="rect">
            <a:avLst/>
          </a:prstGeom>
          <a:noFill/>
        </p:spPr>
        <p:txBody>
          <a:bodyPr wrap="square">
            <a:spAutoFit/>
          </a:bodyPr>
          <a:lstStyle/>
          <a:p>
            <a:pPr>
              <a:lnSpc>
                <a:spcPct val="110000"/>
              </a:lnSpc>
              <a:spcAft>
                <a:spcPts val="800"/>
              </a:spcAft>
            </a:pPr>
            <a:r>
              <a:rPr sz="1350" b="1" i="0">
                <a:solidFill>
                  <a:srgbClr val="168A86"/>
                </a:solidFill>
                <a:latin typeface="Segoe UI"/>
              </a:rPr>
              <a:t>▸  </a:t>
            </a:r>
            <a:r>
              <a:rPr sz="1350" b="1" i="0">
                <a:solidFill>
                  <a:srgbClr val="14253A"/>
                </a:solidFill>
                <a:latin typeface="Segoe UI"/>
              </a:rPr>
              <a:t>The API never calls OpenAI</a:t>
            </a:r>
            <a:r>
              <a:rPr sz="1350" b="0" i="0">
                <a:solidFill>
                  <a:srgbClr val="1E242B"/>
                </a:solidFill>
                <a:latin typeface="Segoe UI"/>
              </a:rPr>
              <a:t> — it writes a pending row to Postgres, puts the object in S3, and returns 202</a:t>
            </a:r>
          </a:p>
          <a:p>
            <a:pPr>
              <a:lnSpc>
                <a:spcPct val="110000"/>
              </a:lnSpc>
              <a:spcAft>
                <a:spcPts val="800"/>
              </a:spcAft>
            </a:pPr>
            <a:r>
              <a:rPr sz="1350" b="1" i="0">
                <a:solidFill>
                  <a:srgbClr val="168A86"/>
                </a:solidFill>
                <a:latin typeface="Segoe UI"/>
              </a:rPr>
              <a:t>▸  </a:t>
            </a:r>
            <a:r>
              <a:rPr sz="1350" b="1" i="0">
                <a:solidFill>
                  <a:srgbClr val="14253A"/>
                </a:solidFill>
                <a:latin typeface="Segoe UI"/>
              </a:rPr>
              <a:t>A direct upload skips the API entirely</a:t>
            </a:r>
            <a:r>
              <a:rPr sz="1350" b="0" i="0">
                <a:solidFill>
                  <a:srgbClr val="1E242B"/>
                </a:solidFill>
                <a:latin typeface="Segoe UI"/>
              </a:rPr>
              <a:t> — the same S3 → SQS → worker path picks it up</a:t>
            </a:r>
          </a:p>
          <a:p>
            <a:pPr>
              <a:lnSpc>
                <a:spcPct val="110000"/>
              </a:lnSpc>
              <a:spcAft>
                <a:spcPts val="800"/>
              </a:spcAft>
            </a:pPr>
            <a:r>
              <a:rPr sz="1350" b="1" i="0">
                <a:solidFill>
                  <a:srgbClr val="168A86"/>
                </a:solidFill>
                <a:latin typeface="Segoe UI"/>
              </a:rPr>
              <a:t>▸  </a:t>
            </a:r>
            <a:r>
              <a:rPr sz="1350" b="0" i="0">
                <a:solidFill>
                  <a:srgbClr val="1E242B"/>
                </a:solidFill>
                <a:latin typeface="Segoe UI"/>
              </a:rPr>
              <a:t>One validation contract, one scoring path, one place the DLQ can be reached from</a:t>
            </a:r>
          </a:p>
        </p:txBody>
      </p:sp>
      <p:sp>
        <p:nvSpPr>
          <p:cNvPr id="38" name="Rectangle 37"/>
          <p:cNvSpPr/>
          <p:nvPr/>
        </p:nvSpPr>
        <p:spPr>
          <a:xfrm>
            <a:off x="640080" y="6272784"/>
            <a:ext cx="10911535" cy="9525"/>
          </a:xfrm>
          <a:prstGeom prst="rect">
            <a:avLst/>
          </a:prstGeom>
          <a:solidFill>
            <a:srgbClr val="E1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382512"/>
            <a:ext cx="7315200" cy="292608"/>
          </a:xfrm>
          <a:prstGeom prst="rect">
            <a:avLst/>
          </a:prstGeom>
          <a:noFill/>
        </p:spPr>
        <p:txBody>
          <a:bodyPr wrap="none">
            <a:spAutoFit/>
          </a:bodyPr>
          <a:lstStyle/>
          <a:p>
            <a:r>
              <a:rPr sz="1000" b="0" i="0">
                <a:solidFill>
                  <a:srgbClr val="626E79"/>
                </a:solidFill>
                <a:latin typeface="Segoe UI"/>
              </a:rPr>
              <a:t>ConvoScore  ·  Architecture</a:t>
            </a:r>
          </a:p>
        </p:txBody>
      </p:sp>
      <p:sp>
        <p:nvSpPr>
          <p:cNvPr id="40" name="TextBox 39"/>
          <p:cNvSpPr txBox="1"/>
          <p:nvPr/>
        </p:nvSpPr>
        <p:spPr>
          <a:xfrm>
            <a:off x="10362895" y="6382512"/>
            <a:ext cx="1188720" cy="292608"/>
          </a:xfrm>
          <a:prstGeom prst="rect">
            <a:avLst/>
          </a:prstGeom>
          <a:noFill/>
        </p:spPr>
        <p:txBody>
          <a:bodyPr wrap="none">
            <a:spAutoFit/>
          </a:bodyPr>
          <a:lstStyle/>
          <a:p>
            <a:pPr algn="r"/>
            <a:r>
              <a:rPr sz="1000" b="0" i="0">
                <a:solidFill>
                  <a:srgbClr val="B7C2CC"/>
                </a:solidFill>
                <a:latin typeface="Segoe UI"/>
              </a:rPr>
              <a:t>03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640080" y="384048"/>
            <a:ext cx="9601200" cy="292608"/>
          </a:xfrm>
          <a:prstGeom prst="rect">
            <a:avLst/>
          </a:prstGeom>
          <a:noFill/>
        </p:spPr>
        <p:txBody>
          <a:bodyPr wrap="none">
            <a:spAutoFit/>
          </a:bodyPr>
          <a:lstStyle/>
          <a:p>
            <a:r>
              <a:rPr sz="1250" b="1" i="0" spc="160">
                <a:solidFill>
                  <a:srgbClr val="168A86"/>
                </a:solidFill>
                <a:latin typeface="Segoe UI"/>
              </a:rPr>
              <a:t>INGESTION</a:t>
            </a:r>
          </a:p>
        </p:txBody>
      </p:sp>
      <p:sp>
        <p:nvSpPr>
          <p:cNvPr id="3" name="TextBox 2"/>
          <p:cNvSpPr txBox="1"/>
          <p:nvPr/>
        </p:nvSpPr>
        <p:spPr>
          <a:xfrm>
            <a:off x="612647" y="658368"/>
            <a:ext cx="10607040" cy="640080"/>
          </a:xfrm>
          <a:prstGeom prst="rect">
            <a:avLst/>
          </a:prstGeom>
          <a:noFill/>
        </p:spPr>
        <p:txBody>
          <a:bodyPr wrap="square">
            <a:spAutoFit/>
          </a:bodyPr>
          <a:lstStyle/>
          <a:p>
            <a:r>
              <a:rPr sz="2700" b="1" i="0">
                <a:solidFill>
                  <a:srgbClr val="14253A"/>
                </a:solidFill>
                <a:latin typeface="Segoe UI"/>
              </a:rPr>
              <a:t>How conversations get in: two paths, one pipeline</a:t>
            </a:r>
          </a:p>
        </p:txBody>
      </p:sp>
      <p:sp>
        <p:nvSpPr>
          <p:cNvPr id="4" name="Rectangle 3"/>
          <p:cNvSpPr/>
          <p:nvPr/>
        </p:nvSpPr>
        <p:spPr>
          <a:xfrm>
            <a:off x="640080" y="1353312"/>
            <a:ext cx="1051560" cy="3810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37360"/>
            <a:ext cx="5074920" cy="3794760"/>
          </a:xfrm>
          <a:prstGeom prst="roundRect">
            <a:avLst>
              <a:gd name="adj" fmla="val 3500"/>
            </a:avLst>
          </a:prstGeom>
          <a:solidFill>
            <a:srgbClr val="FFFFFF"/>
          </a:solidFill>
          <a:ln w="9525">
            <a:solidFill>
              <a:srgbClr val="E1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86384" y="1737360"/>
            <a:ext cx="4782312" cy="4064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572000" cy="365760"/>
          </a:xfrm>
          <a:prstGeom prst="rect">
            <a:avLst/>
          </a:prstGeom>
          <a:noFill/>
        </p:spPr>
        <p:txBody>
          <a:bodyPr wrap="none">
            <a:spAutoFit/>
          </a:bodyPr>
          <a:lstStyle/>
          <a:p>
            <a:r>
              <a:rPr sz="1600" b="1" i="0">
                <a:solidFill>
                  <a:srgbClr val="0F6664"/>
                </a:solidFill>
                <a:latin typeface="Segoe UI"/>
              </a:rPr>
              <a:t>Path 1 — API</a:t>
            </a:r>
          </a:p>
        </p:txBody>
      </p:sp>
      <p:sp>
        <p:nvSpPr>
          <p:cNvPr id="8" name="Oval 7"/>
          <p:cNvSpPr/>
          <p:nvPr/>
        </p:nvSpPr>
        <p:spPr>
          <a:xfrm>
            <a:off x="914400" y="2450592"/>
            <a:ext cx="329184" cy="329184"/>
          </a:xfrm>
          <a:prstGeom prst="ellipse">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300" b="1" i="0">
                <a:solidFill>
                  <a:srgbClr val="FFFFFF"/>
                </a:solidFill>
                <a:latin typeface="Segoe UI"/>
              </a:rPr>
              <a:t>1</a:t>
            </a:r>
          </a:p>
        </p:txBody>
      </p:sp>
      <p:sp>
        <p:nvSpPr>
          <p:cNvPr id="9" name="TextBox 8"/>
          <p:cNvSpPr txBox="1"/>
          <p:nvPr/>
        </p:nvSpPr>
        <p:spPr>
          <a:xfrm>
            <a:off x="1389887" y="2368296"/>
            <a:ext cx="4050791" cy="777240"/>
          </a:xfrm>
          <a:prstGeom prst="rect">
            <a:avLst/>
          </a:prstGeom>
          <a:noFill/>
        </p:spPr>
        <p:txBody>
          <a:bodyPr wrap="square">
            <a:spAutoFit/>
          </a:bodyPr>
          <a:lstStyle/>
          <a:p>
            <a:pPr>
              <a:lnSpc>
                <a:spcPct val="105000"/>
              </a:lnSpc>
            </a:pPr>
            <a:r>
              <a:rPr sz="1350" b="0" i="0">
                <a:solidFill>
                  <a:srgbClr val="1E242B"/>
                </a:solidFill>
                <a:latin typeface="Segoe UI"/>
              </a:rPr>
              <a:t>POST /conversations with the conversation text</a:t>
            </a:r>
          </a:p>
        </p:txBody>
      </p:sp>
      <p:sp>
        <p:nvSpPr>
          <p:cNvPr id="10" name="Oval 9"/>
          <p:cNvSpPr/>
          <p:nvPr/>
        </p:nvSpPr>
        <p:spPr>
          <a:xfrm>
            <a:off x="914400" y="3364992"/>
            <a:ext cx="329184" cy="329184"/>
          </a:xfrm>
          <a:prstGeom prst="ellipse">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300" b="1" i="0">
                <a:solidFill>
                  <a:srgbClr val="FFFFFF"/>
                </a:solidFill>
                <a:latin typeface="Segoe UI"/>
              </a:rPr>
              <a:t>2</a:t>
            </a:r>
          </a:p>
        </p:txBody>
      </p:sp>
      <p:sp>
        <p:nvSpPr>
          <p:cNvPr id="11" name="TextBox 10"/>
          <p:cNvSpPr txBox="1"/>
          <p:nvPr/>
        </p:nvSpPr>
        <p:spPr>
          <a:xfrm>
            <a:off x="1389887" y="3282696"/>
            <a:ext cx="4050791" cy="777240"/>
          </a:xfrm>
          <a:prstGeom prst="rect">
            <a:avLst/>
          </a:prstGeom>
          <a:noFill/>
        </p:spPr>
        <p:txBody>
          <a:bodyPr wrap="square">
            <a:spAutoFit/>
          </a:bodyPr>
          <a:lstStyle/>
          <a:p>
            <a:pPr>
              <a:lnSpc>
                <a:spcPct val="105000"/>
              </a:lnSpc>
            </a:pPr>
            <a:r>
              <a:rPr sz="1350" b="0" i="0">
                <a:solidFill>
                  <a:srgbClr val="1E242B"/>
                </a:solidFill>
                <a:latin typeface="Segoe UI"/>
              </a:rPr>
              <a:t>Validated once; a “pending” row is written to Postgres immediately</a:t>
            </a:r>
          </a:p>
        </p:txBody>
      </p:sp>
      <p:sp>
        <p:nvSpPr>
          <p:cNvPr id="12" name="Oval 11"/>
          <p:cNvSpPr/>
          <p:nvPr/>
        </p:nvSpPr>
        <p:spPr>
          <a:xfrm>
            <a:off x="914400" y="4279392"/>
            <a:ext cx="329184" cy="329184"/>
          </a:xfrm>
          <a:prstGeom prst="ellipse">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300" b="1" i="0">
                <a:solidFill>
                  <a:srgbClr val="FFFFFF"/>
                </a:solidFill>
                <a:latin typeface="Segoe UI"/>
              </a:rPr>
              <a:t>3</a:t>
            </a:r>
          </a:p>
        </p:txBody>
      </p:sp>
      <p:sp>
        <p:nvSpPr>
          <p:cNvPr id="13" name="TextBox 12"/>
          <p:cNvSpPr txBox="1"/>
          <p:nvPr/>
        </p:nvSpPr>
        <p:spPr>
          <a:xfrm>
            <a:off x="1389887" y="4197096"/>
            <a:ext cx="4050791" cy="777240"/>
          </a:xfrm>
          <a:prstGeom prst="rect">
            <a:avLst/>
          </a:prstGeom>
          <a:noFill/>
        </p:spPr>
        <p:txBody>
          <a:bodyPr wrap="square">
            <a:spAutoFit/>
          </a:bodyPr>
          <a:lstStyle/>
          <a:p>
            <a:pPr>
              <a:lnSpc>
                <a:spcPct val="105000"/>
              </a:lnSpc>
            </a:pPr>
            <a:r>
              <a:rPr sz="1350" b="0" i="0">
                <a:solidFill>
                  <a:srgbClr val="1E242B"/>
                </a:solidFill>
                <a:latin typeface="Segoe UI"/>
              </a:rPr>
              <a:t>Conversation is written to S3; API returns 202 without waiting for scoring</a:t>
            </a:r>
          </a:p>
        </p:txBody>
      </p:sp>
      <p:sp>
        <p:nvSpPr>
          <p:cNvPr id="14" name="Rounded Rectangle 13"/>
          <p:cNvSpPr/>
          <p:nvPr/>
        </p:nvSpPr>
        <p:spPr>
          <a:xfrm>
            <a:off x="6172200" y="1737360"/>
            <a:ext cx="5074920" cy="3794760"/>
          </a:xfrm>
          <a:prstGeom prst="roundRect">
            <a:avLst>
              <a:gd name="adj" fmla="val 3500"/>
            </a:avLst>
          </a:prstGeom>
          <a:solidFill>
            <a:srgbClr val="FFFFFF"/>
          </a:solidFill>
          <a:ln w="9525">
            <a:solidFill>
              <a:srgbClr val="E1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18504" y="1737360"/>
            <a:ext cx="4782312" cy="40640"/>
          </a:xfrm>
          <a:prstGeom prst="rect">
            <a:avLst/>
          </a:prstGeom>
          <a:solidFill>
            <a:srgbClr val="C9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920240"/>
            <a:ext cx="4572000" cy="365760"/>
          </a:xfrm>
          <a:prstGeom prst="rect">
            <a:avLst/>
          </a:prstGeom>
          <a:noFill/>
        </p:spPr>
        <p:txBody>
          <a:bodyPr wrap="none">
            <a:spAutoFit/>
          </a:bodyPr>
          <a:lstStyle/>
          <a:p>
            <a:r>
              <a:rPr sz="1600" b="1" i="0">
                <a:solidFill>
                  <a:srgbClr val="C97A1A"/>
                </a:solidFill>
                <a:latin typeface="Segoe UI"/>
              </a:rPr>
              <a:t>Path 2 — Direct S3 upload</a:t>
            </a:r>
          </a:p>
        </p:txBody>
      </p:sp>
      <p:sp>
        <p:nvSpPr>
          <p:cNvPr id="17" name="Oval 16"/>
          <p:cNvSpPr/>
          <p:nvPr/>
        </p:nvSpPr>
        <p:spPr>
          <a:xfrm>
            <a:off x="6446520" y="2450592"/>
            <a:ext cx="329184" cy="329184"/>
          </a:xfrm>
          <a:prstGeom prst="ellipse">
            <a:avLst/>
          </a:prstGeom>
          <a:solidFill>
            <a:srgbClr val="C97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300" b="1" i="0">
                <a:solidFill>
                  <a:srgbClr val="FFFFFF"/>
                </a:solidFill>
                <a:latin typeface="Segoe UI"/>
              </a:rPr>
              <a:t>1</a:t>
            </a:r>
          </a:p>
        </p:txBody>
      </p:sp>
      <p:sp>
        <p:nvSpPr>
          <p:cNvPr id="18" name="TextBox 17"/>
          <p:cNvSpPr txBox="1"/>
          <p:nvPr/>
        </p:nvSpPr>
        <p:spPr>
          <a:xfrm>
            <a:off x="6922008" y="2368296"/>
            <a:ext cx="4050791" cy="777240"/>
          </a:xfrm>
          <a:prstGeom prst="rect">
            <a:avLst/>
          </a:prstGeom>
          <a:noFill/>
        </p:spPr>
        <p:txBody>
          <a:bodyPr wrap="square">
            <a:spAutoFit/>
          </a:bodyPr>
          <a:lstStyle/>
          <a:p>
            <a:pPr>
              <a:lnSpc>
                <a:spcPct val="105000"/>
              </a:lnSpc>
            </a:pPr>
            <a:r>
              <a:rPr sz="1350" b="0" i="0">
                <a:solidFill>
                  <a:srgbClr val="1E242B"/>
                </a:solidFill>
                <a:latin typeface="Segoe UI"/>
              </a:rPr>
              <a:t>A file lands in S3 under incoming/ — no API call at all</a:t>
            </a:r>
          </a:p>
        </p:txBody>
      </p:sp>
      <p:sp>
        <p:nvSpPr>
          <p:cNvPr id="19" name="Oval 18"/>
          <p:cNvSpPr/>
          <p:nvPr/>
        </p:nvSpPr>
        <p:spPr>
          <a:xfrm>
            <a:off x="6446520" y="3364992"/>
            <a:ext cx="329184" cy="329184"/>
          </a:xfrm>
          <a:prstGeom prst="ellipse">
            <a:avLst/>
          </a:prstGeom>
          <a:solidFill>
            <a:srgbClr val="C97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300" b="1" i="0">
                <a:solidFill>
                  <a:srgbClr val="FFFFFF"/>
                </a:solidFill>
                <a:latin typeface="Segoe UI"/>
              </a:rPr>
              <a:t>2</a:t>
            </a:r>
          </a:p>
        </p:txBody>
      </p:sp>
      <p:sp>
        <p:nvSpPr>
          <p:cNvPr id="20" name="TextBox 19"/>
          <p:cNvSpPr txBox="1"/>
          <p:nvPr/>
        </p:nvSpPr>
        <p:spPr>
          <a:xfrm>
            <a:off x="6922008" y="3282696"/>
            <a:ext cx="4050791" cy="777240"/>
          </a:xfrm>
          <a:prstGeom prst="rect">
            <a:avLst/>
          </a:prstGeom>
          <a:noFill/>
        </p:spPr>
        <p:txBody>
          <a:bodyPr wrap="square">
            <a:spAutoFit/>
          </a:bodyPr>
          <a:lstStyle/>
          <a:p>
            <a:pPr>
              <a:lnSpc>
                <a:spcPct val="105000"/>
              </a:lnSpc>
            </a:pPr>
            <a:r>
              <a:rPr sz="1350" b="0" i="0">
                <a:solidFill>
                  <a:srgbClr val="1E242B"/>
                </a:solidFill>
                <a:latin typeface="Segoe UI"/>
              </a:rPr>
              <a:t>An S3 event notification delivers straight to SQS</a:t>
            </a:r>
          </a:p>
        </p:txBody>
      </p:sp>
      <p:sp>
        <p:nvSpPr>
          <p:cNvPr id="21" name="Oval 20"/>
          <p:cNvSpPr/>
          <p:nvPr/>
        </p:nvSpPr>
        <p:spPr>
          <a:xfrm>
            <a:off x="6446520" y="4279392"/>
            <a:ext cx="329184" cy="329184"/>
          </a:xfrm>
          <a:prstGeom prst="ellipse">
            <a:avLst/>
          </a:prstGeom>
          <a:solidFill>
            <a:srgbClr val="C97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300" b="1" i="0">
                <a:solidFill>
                  <a:srgbClr val="FFFFFF"/>
                </a:solidFill>
                <a:latin typeface="Segoe UI"/>
              </a:rPr>
              <a:t>3</a:t>
            </a:r>
          </a:p>
        </p:txBody>
      </p:sp>
      <p:sp>
        <p:nvSpPr>
          <p:cNvPr id="22" name="TextBox 21"/>
          <p:cNvSpPr txBox="1"/>
          <p:nvPr/>
        </p:nvSpPr>
        <p:spPr>
          <a:xfrm>
            <a:off x="6922008" y="4197096"/>
            <a:ext cx="4050791" cy="777240"/>
          </a:xfrm>
          <a:prstGeom prst="rect">
            <a:avLst/>
          </a:prstGeom>
          <a:noFill/>
        </p:spPr>
        <p:txBody>
          <a:bodyPr wrap="square">
            <a:spAutoFit/>
          </a:bodyPr>
          <a:lstStyle/>
          <a:p>
            <a:pPr>
              <a:lnSpc>
                <a:spcPct val="105000"/>
              </a:lnSpc>
            </a:pPr>
            <a:r>
              <a:rPr sz="1350" b="0" i="0">
                <a:solidFill>
                  <a:srgbClr val="1E242B"/>
                </a:solidFill>
                <a:latin typeface="Segoe UI"/>
              </a:rPr>
              <a:t>The worker creates the row itself, keyed by the S3 object key</a:t>
            </a:r>
          </a:p>
        </p:txBody>
      </p:sp>
      <p:sp>
        <p:nvSpPr>
          <p:cNvPr id="23" name="Rounded Rectangle 22"/>
          <p:cNvSpPr/>
          <p:nvPr/>
        </p:nvSpPr>
        <p:spPr>
          <a:xfrm>
            <a:off x="640080" y="5650992"/>
            <a:ext cx="10881360" cy="457200"/>
          </a:xfrm>
          <a:prstGeom prst="roundRect">
            <a:avLst>
              <a:gd name="adj" fmla="val 25000"/>
            </a:avLst>
          </a:prstGeom>
          <a:solidFill>
            <a:srgbClr val="142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Segoe UI"/>
              </a:rPr>
              <a:t>Both converge on the same S3 → SQS → worker pipeline — one validation contract, one scoring code path</a:t>
            </a:r>
          </a:p>
        </p:txBody>
      </p:sp>
      <p:sp>
        <p:nvSpPr>
          <p:cNvPr id="24" name="Rectangle 23"/>
          <p:cNvSpPr/>
          <p:nvPr/>
        </p:nvSpPr>
        <p:spPr>
          <a:xfrm>
            <a:off x="640080" y="6272784"/>
            <a:ext cx="10911535" cy="9525"/>
          </a:xfrm>
          <a:prstGeom prst="rect">
            <a:avLst/>
          </a:prstGeom>
          <a:solidFill>
            <a:srgbClr val="E1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382512"/>
            <a:ext cx="7315200" cy="292608"/>
          </a:xfrm>
          <a:prstGeom prst="rect">
            <a:avLst/>
          </a:prstGeom>
          <a:noFill/>
        </p:spPr>
        <p:txBody>
          <a:bodyPr wrap="none">
            <a:spAutoFit/>
          </a:bodyPr>
          <a:lstStyle/>
          <a:p>
            <a:r>
              <a:rPr sz="1000" b="0" i="0">
                <a:solidFill>
                  <a:srgbClr val="626E79"/>
                </a:solidFill>
                <a:latin typeface="Segoe UI"/>
              </a:rPr>
              <a:t>ConvoScore  ·  Ingestion paths</a:t>
            </a:r>
          </a:p>
        </p:txBody>
      </p:sp>
      <p:sp>
        <p:nvSpPr>
          <p:cNvPr id="26" name="TextBox 25"/>
          <p:cNvSpPr txBox="1"/>
          <p:nvPr/>
        </p:nvSpPr>
        <p:spPr>
          <a:xfrm>
            <a:off x="10362895" y="6382512"/>
            <a:ext cx="1188720" cy="292608"/>
          </a:xfrm>
          <a:prstGeom prst="rect">
            <a:avLst/>
          </a:prstGeom>
          <a:noFill/>
        </p:spPr>
        <p:txBody>
          <a:bodyPr wrap="none">
            <a:spAutoFit/>
          </a:bodyPr>
          <a:lstStyle/>
          <a:p>
            <a:pPr algn="r"/>
            <a:r>
              <a:rPr sz="1000" b="0" i="0">
                <a:solidFill>
                  <a:srgbClr val="B7C2CC"/>
                </a:solidFill>
                <a:latin typeface="Segoe UI"/>
              </a:rPr>
              <a:t>04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640080" y="384048"/>
            <a:ext cx="9601200" cy="292608"/>
          </a:xfrm>
          <a:prstGeom prst="rect">
            <a:avLst/>
          </a:prstGeom>
          <a:noFill/>
        </p:spPr>
        <p:txBody>
          <a:bodyPr wrap="none">
            <a:spAutoFit/>
          </a:bodyPr>
          <a:lstStyle/>
          <a:p>
            <a:r>
              <a:rPr sz="1250" b="1" i="0" spc="160">
                <a:solidFill>
                  <a:srgbClr val="168A86"/>
                </a:solidFill>
                <a:latin typeface="Segoe UI"/>
              </a:rPr>
              <a:t>SCORING</a:t>
            </a:r>
          </a:p>
        </p:txBody>
      </p:sp>
      <p:sp>
        <p:nvSpPr>
          <p:cNvPr id="3" name="TextBox 2"/>
          <p:cNvSpPr txBox="1"/>
          <p:nvPr/>
        </p:nvSpPr>
        <p:spPr>
          <a:xfrm>
            <a:off x="612647" y="658368"/>
            <a:ext cx="10607040" cy="640080"/>
          </a:xfrm>
          <a:prstGeom prst="rect">
            <a:avLst/>
          </a:prstGeom>
          <a:noFill/>
        </p:spPr>
        <p:txBody>
          <a:bodyPr wrap="square">
            <a:spAutoFit/>
          </a:bodyPr>
          <a:lstStyle/>
          <a:p>
            <a:r>
              <a:rPr sz="2200" b="1" i="0">
                <a:solidFill>
                  <a:srgbClr val="14253A"/>
                </a:solidFill>
                <a:latin typeface="Segoe UI"/>
              </a:rPr>
              <a:t>How scoring is triggered — and what happens when it fails</a:t>
            </a:r>
          </a:p>
        </p:txBody>
      </p:sp>
      <p:sp>
        <p:nvSpPr>
          <p:cNvPr id="4" name="Rectangle 3"/>
          <p:cNvSpPr/>
          <p:nvPr/>
        </p:nvSpPr>
        <p:spPr>
          <a:xfrm>
            <a:off x="640080" y="1353312"/>
            <a:ext cx="1051560" cy="3810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2331720"/>
            <a:ext cx="1645920" cy="777240"/>
          </a:xfrm>
          <a:prstGeom prst="roundRect">
            <a:avLst>
              <a:gd name="adj" fmla="val 12000"/>
            </a:avLst>
          </a:prstGeom>
          <a:solidFill>
            <a:srgbClr val="4A5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SQS
processing queue</a:t>
            </a:r>
          </a:p>
        </p:txBody>
      </p:sp>
      <p:sp>
        <p:nvSpPr>
          <p:cNvPr id="6" name="Rounded Rectangle 5"/>
          <p:cNvSpPr/>
          <p:nvPr/>
        </p:nvSpPr>
        <p:spPr>
          <a:xfrm>
            <a:off x="3200400" y="2331720"/>
            <a:ext cx="1645920" cy="777240"/>
          </a:xfrm>
          <a:prstGeom prst="roundRect">
            <a:avLst>
              <a:gd name="adj" fmla="val 12000"/>
            </a:avLst>
          </a:prstGeom>
          <a:solidFill>
            <a:srgbClr val="0F66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Worker</a:t>
            </a:r>
          </a:p>
        </p:txBody>
      </p:sp>
      <p:sp>
        <p:nvSpPr>
          <p:cNvPr id="7" name="Rounded Rectangle 6"/>
          <p:cNvSpPr/>
          <p:nvPr/>
        </p:nvSpPr>
        <p:spPr>
          <a:xfrm>
            <a:off x="3200400" y="3520440"/>
            <a:ext cx="1645920" cy="685800"/>
          </a:xfrm>
          <a:prstGeom prst="roundRect">
            <a:avLst>
              <a:gd name="adj" fmla="val 12000"/>
            </a:avLst>
          </a:prstGeom>
          <a:solidFill>
            <a:srgbClr val="1425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OpenAI</a:t>
            </a:r>
          </a:p>
        </p:txBody>
      </p:sp>
      <p:sp>
        <p:nvSpPr>
          <p:cNvPr id="8" name="Rounded Rectangle 7"/>
          <p:cNvSpPr/>
          <p:nvPr/>
        </p:nvSpPr>
        <p:spPr>
          <a:xfrm>
            <a:off x="8138160" y="2331720"/>
            <a:ext cx="1737360" cy="777240"/>
          </a:xfrm>
          <a:prstGeom prst="roundRect">
            <a:avLst>
              <a:gd name="adj" fmla="val 12000"/>
            </a:avLst>
          </a:prstGeom>
          <a:solidFill>
            <a:srgbClr val="1425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PostgreSQL</a:t>
            </a:r>
          </a:p>
        </p:txBody>
      </p:sp>
      <p:sp>
        <p:nvSpPr>
          <p:cNvPr id="9" name="Rounded Rectangle 8"/>
          <p:cNvSpPr/>
          <p:nvPr/>
        </p:nvSpPr>
        <p:spPr>
          <a:xfrm>
            <a:off x="822960" y="3520440"/>
            <a:ext cx="1645920" cy="685800"/>
          </a:xfrm>
          <a:prstGeom prst="roundRect">
            <a:avLst>
              <a:gd name="adj" fmla="val 12000"/>
            </a:avLst>
          </a:prstGeom>
          <a:solidFill>
            <a:srgbClr val="9E35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SQS DLQ</a:t>
            </a:r>
          </a:p>
        </p:txBody>
      </p:sp>
      <p:cxnSp>
        <p:nvCxnSpPr>
          <p:cNvPr id="10" name="Connector 9"/>
          <p:cNvCxnSpPr/>
          <p:nvPr/>
        </p:nvCxnSpPr>
        <p:spPr>
          <a:xfrm flipV="1">
            <a:off x="4023360" y="2057400"/>
            <a:ext cx="0" cy="274320"/>
          </a:xfrm>
          <a:prstGeom prst="line">
            <a:avLst/>
          </a:prstGeom>
          <a:ln w="20320">
            <a:solidFill>
              <a:srgbClr val="4A5A6A"/>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645920" y="2057400"/>
            <a:ext cx="2377440" cy="0"/>
          </a:xfrm>
          <a:prstGeom prst="line">
            <a:avLst/>
          </a:prstGeom>
          <a:ln w="20320">
            <a:solidFill>
              <a:srgbClr val="4A5A6A"/>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45920" y="2057400"/>
            <a:ext cx="0" cy="274320"/>
          </a:xfrm>
          <a:prstGeom prst="line">
            <a:avLst/>
          </a:prstGeom>
          <a:ln w="20320">
            <a:solidFill>
              <a:srgbClr val="4A5A6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45920" y="1783080"/>
            <a:ext cx="2377440" cy="274320"/>
          </a:xfrm>
          <a:prstGeom prst="rect">
            <a:avLst/>
          </a:prstGeom>
          <a:noFill/>
        </p:spPr>
        <p:txBody>
          <a:bodyPr wrap="none" lIns="0" rIns="0">
            <a:spAutoFit/>
          </a:bodyPr>
          <a:lstStyle/>
          <a:p>
            <a:pPr algn="ctr"/>
            <a:r>
              <a:rPr sz="1050" b="0" i="0">
                <a:solidFill>
                  <a:srgbClr val="4A5A6A"/>
                </a:solidFill>
                <a:latin typeface="Segoe UI"/>
              </a:rPr>
              <a:t>retry (visibility timeout)</a:t>
            </a:r>
          </a:p>
        </p:txBody>
      </p:sp>
      <p:cxnSp>
        <p:nvCxnSpPr>
          <p:cNvPr id="14" name="Connector 13"/>
          <p:cNvCxnSpPr/>
          <p:nvPr/>
        </p:nvCxnSpPr>
        <p:spPr>
          <a:xfrm>
            <a:off x="2468880" y="2720339"/>
            <a:ext cx="731520" cy="0"/>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828800" y="2029968"/>
            <a:ext cx="2011680" cy="274320"/>
          </a:xfrm>
          <a:prstGeom prst="rect">
            <a:avLst/>
          </a:prstGeom>
          <a:noFill/>
        </p:spPr>
        <p:txBody>
          <a:bodyPr wrap="none" lIns="0" rIns="0">
            <a:spAutoFit/>
          </a:bodyPr>
          <a:lstStyle/>
          <a:p>
            <a:pPr algn="ctr"/>
            <a:r>
              <a:rPr sz="1050" b="0" i="0">
                <a:solidFill>
                  <a:srgbClr val="626E79"/>
                </a:solidFill>
                <a:latin typeface="Segoe UI"/>
              </a:rPr>
              <a:t>poll</a:t>
            </a:r>
          </a:p>
        </p:txBody>
      </p:sp>
      <p:cxnSp>
        <p:nvCxnSpPr>
          <p:cNvPr id="16" name="Connector 15"/>
          <p:cNvCxnSpPr/>
          <p:nvPr/>
        </p:nvCxnSpPr>
        <p:spPr>
          <a:xfrm>
            <a:off x="4023360" y="3108960"/>
            <a:ext cx="0" cy="411480"/>
          </a:xfrm>
          <a:prstGeom prst="line">
            <a:avLst/>
          </a:prstGeom>
          <a:ln w="22225">
            <a:solidFill>
              <a:srgbClr val="0F66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14800" y="3127248"/>
            <a:ext cx="914400" cy="274320"/>
          </a:xfrm>
          <a:prstGeom prst="rect">
            <a:avLst/>
          </a:prstGeom>
          <a:noFill/>
        </p:spPr>
        <p:txBody>
          <a:bodyPr wrap="none" lIns="0" rIns="0">
            <a:spAutoFit/>
          </a:bodyPr>
          <a:lstStyle/>
          <a:p>
            <a:pPr algn="ctr"/>
            <a:r>
              <a:rPr sz="1050" b="0" i="0">
                <a:solidFill>
                  <a:srgbClr val="626E79"/>
                </a:solidFill>
                <a:latin typeface="Segoe UI"/>
              </a:rPr>
              <a:t>score</a:t>
            </a:r>
          </a:p>
        </p:txBody>
      </p:sp>
      <p:cxnSp>
        <p:nvCxnSpPr>
          <p:cNvPr id="18" name="Connector 17"/>
          <p:cNvCxnSpPr/>
          <p:nvPr/>
        </p:nvCxnSpPr>
        <p:spPr>
          <a:xfrm>
            <a:off x="4846320" y="2720339"/>
            <a:ext cx="3291840" cy="0"/>
          </a:xfrm>
          <a:prstGeom prst="line">
            <a:avLst/>
          </a:prstGeom>
          <a:ln w="22225">
            <a:solidFill>
              <a:srgbClr val="0F66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846320" y="2029968"/>
            <a:ext cx="3291840" cy="274320"/>
          </a:xfrm>
          <a:prstGeom prst="rect">
            <a:avLst/>
          </a:prstGeom>
          <a:noFill/>
        </p:spPr>
        <p:txBody>
          <a:bodyPr wrap="none" lIns="0" rIns="0">
            <a:spAutoFit/>
          </a:bodyPr>
          <a:lstStyle/>
          <a:p>
            <a:pPr algn="ctr"/>
            <a:r>
              <a:rPr sz="1050" b="0" i="0">
                <a:solidFill>
                  <a:srgbClr val="626E79"/>
                </a:solidFill>
                <a:latin typeface="Segoe UI"/>
              </a:rPr>
              <a:t>commit result</a:t>
            </a:r>
          </a:p>
        </p:txBody>
      </p:sp>
      <p:cxnSp>
        <p:nvCxnSpPr>
          <p:cNvPr id="20" name="Connector 19"/>
          <p:cNvCxnSpPr/>
          <p:nvPr/>
        </p:nvCxnSpPr>
        <p:spPr>
          <a:xfrm>
            <a:off x="1645920" y="3108960"/>
            <a:ext cx="0" cy="411480"/>
          </a:xfrm>
          <a:prstGeom prst="line">
            <a:avLst/>
          </a:prstGeom>
          <a:ln w="22225">
            <a:solidFill>
              <a:srgbClr val="9E353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645919" y="3310128"/>
            <a:ext cx="1371600" cy="274320"/>
          </a:xfrm>
          <a:prstGeom prst="rect">
            <a:avLst/>
          </a:prstGeom>
          <a:noFill/>
        </p:spPr>
        <p:txBody>
          <a:bodyPr wrap="none" lIns="0" rIns="0">
            <a:spAutoFit/>
          </a:bodyPr>
          <a:lstStyle/>
          <a:p>
            <a:pPr algn="ctr"/>
            <a:r>
              <a:rPr sz="1050" b="0" i="0">
                <a:solidFill>
                  <a:srgbClr val="9E3533"/>
                </a:solidFill>
                <a:latin typeface="Segoe UI"/>
              </a:rPr>
              <a:t>after 3 attempts</a:t>
            </a:r>
          </a:p>
        </p:txBody>
      </p:sp>
      <p:sp>
        <p:nvSpPr>
          <p:cNvPr id="22" name="TextBox 21"/>
          <p:cNvSpPr txBox="1"/>
          <p:nvPr/>
        </p:nvSpPr>
        <p:spPr>
          <a:xfrm>
            <a:off x="640080" y="4526280"/>
            <a:ext cx="10881360" cy="1645920"/>
          </a:xfrm>
          <a:prstGeom prst="rect">
            <a:avLst/>
          </a:prstGeom>
          <a:noFill/>
        </p:spPr>
        <p:txBody>
          <a:bodyPr wrap="square">
            <a:spAutoFit/>
          </a:bodyPr>
          <a:lstStyle/>
          <a:p>
            <a:pPr>
              <a:lnSpc>
                <a:spcPct val="110000"/>
              </a:lnSpc>
              <a:spcAft>
                <a:spcPts val="1100"/>
              </a:spcAft>
            </a:pPr>
            <a:r>
              <a:rPr sz="1400" b="1" i="0">
                <a:solidFill>
                  <a:srgbClr val="168A86"/>
                </a:solidFill>
                <a:latin typeface="Segoe UI"/>
              </a:rPr>
              <a:t>▸  </a:t>
            </a:r>
            <a:r>
              <a:rPr sz="1400" b="1" i="0">
                <a:solidFill>
                  <a:srgbClr val="14253A"/>
                </a:solidFill>
                <a:latin typeface="Segoe UI"/>
              </a:rPr>
              <a:t>The worker polls SQS continuously</a:t>
            </a:r>
            <a:r>
              <a:rPr sz="1400" b="0" i="0">
                <a:solidFill>
                  <a:srgbClr val="1E242B"/>
                </a:solidFill>
                <a:latin typeface="Segoe UI"/>
              </a:rPr>
              <a:t> — a message stays invisible while it's being worked, and reappears automatically if not finished in time</a:t>
            </a:r>
          </a:p>
          <a:p>
            <a:pPr>
              <a:lnSpc>
                <a:spcPct val="110000"/>
              </a:lnSpc>
              <a:spcAft>
                <a:spcPts val="1100"/>
              </a:spcAft>
            </a:pPr>
            <a:r>
              <a:rPr sz="1400" b="1" i="0">
                <a:solidFill>
                  <a:srgbClr val="168A86"/>
                </a:solidFill>
                <a:latin typeface="Segoe UI"/>
              </a:rPr>
              <a:t>▸  </a:t>
            </a:r>
            <a:r>
              <a:rPr sz="1400" b="0" i="0">
                <a:solidFill>
                  <a:srgbClr val="1E242B"/>
                </a:solidFill>
                <a:latin typeface="Segoe UI"/>
              </a:rPr>
              <a:t>A transient failure is retried automatically; after 3 attempts SQS moves the message to the DLQ on its own</a:t>
            </a:r>
          </a:p>
          <a:p>
            <a:pPr>
              <a:lnSpc>
                <a:spcPct val="110000"/>
              </a:lnSpc>
              <a:spcAft>
                <a:spcPts val="1100"/>
              </a:spcAft>
            </a:pPr>
            <a:r>
              <a:rPr sz="1400" b="1" i="0">
                <a:solidFill>
                  <a:srgbClr val="168A86"/>
                </a:solidFill>
                <a:latin typeface="Segoe UI"/>
              </a:rPr>
              <a:t>▸  </a:t>
            </a:r>
            <a:r>
              <a:rPr sz="1400" b="1" i="0">
                <a:solidFill>
                  <a:srgbClr val="14253A"/>
                </a:solidFill>
                <a:latin typeface="Segoe UI"/>
              </a:rPr>
              <a:t>Duplicate deliveries and out-of-order retries are both handled</a:t>
            </a:r>
            <a:r>
              <a:rPr sz="1400" b="0" i="0">
                <a:solidFill>
                  <a:srgbClr val="1E242B"/>
                </a:solidFill>
                <a:latin typeface="Segoe UI"/>
              </a:rPr>
              <a:t> — the same object never scores into two rows, and a stale attempt can't overwrite a newer result</a:t>
            </a:r>
          </a:p>
        </p:txBody>
      </p:sp>
      <p:sp>
        <p:nvSpPr>
          <p:cNvPr id="23" name="Rectangle 22"/>
          <p:cNvSpPr/>
          <p:nvPr/>
        </p:nvSpPr>
        <p:spPr>
          <a:xfrm>
            <a:off x="640080" y="6272784"/>
            <a:ext cx="10911535" cy="9525"/>
          </a:xfrm>
          <a:prstGeom prst="rect">
            <a:avLst/>
          </a:prstGeom>
          <a:solidFill>
            <a:srgbClr val="E1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382512"/>
            <a:ext cx="7315200" cy="292608"/>
          </a:xfrm>
          <a:prstGeom prst="rect">
            <a:avLst/>
          </a:prstGeom>
          <a:noFill/>
        </p:spPr>
        <p:txBody>
          <a:bodyPr wrap="none">
            <a:spAutoFit/>
          </a:bodyPr>
          <a:lstStyle/>
          <a:p>
            <a:r>
              <a:rPr sz="1000" b="0" i="0">
                <a:solidFill>
                  <a:srgbClr val="626E79"/>
                </a:solidFill>
                <a:latin typeface="Segoe UI"/>
              </a:rPr>
              <a:t>ConvoScore  ·  Scoring trigger</a:t>
            </a:r>
          </a:p>
        </p:txBody>
      </p:sp>
      <p:sp>
        <p:nvSpPr>
          <p:cNvPr id="25" name="TextBox 24"/>
          <p:cNvSpPr txBox="1"/>
          <p:nvPr/>
        </p:nvSpPr>
        <p:spPr>
          <a:xfrm>
            <a:off x="10362895" y="6382512"/>
            <a:ext cx="1188720" cy="292608"/>
          </a:xfrm>
          <a:prstGeom prst="rect">
            <a:avLst/>
          </a:prstGeom>
          <a:noFill/>
        </p:spPr>
        <p:txBody>
          <a:bodyPr wrap="none">
            <a:spAutoFit/>
          </a:bodyPr>
          <a:lstStyle/>
          <a:p>
            <a:pPr algn="r"/>
            <a:r>
              <a:rPr sz="1000" b="0" i="0">
                <a:solidFill>
                  <a:srgbClr val="B7C2CC"/>
                </a:solidFill>
                <a:latin typeface="Segoe UI"/>
              </a:rPr>
              <a:t>05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640080" y="384048"/>
            <a:ext cx="9601200" cy="292608"/>
          </a:xfrm>
          <a:prstGeom prst="rect">
            <a:avLst/>
          </a:prstGeom>
          <a:noFill/>
        </p:spPr>
        <p:txBody>
          <a:bodyPr wrap="none">
            <a:spAutoFit/>
          </a:bodyPr>
          <a:lstStyle/>
          <a:p>
            <a:r>
              <a:rPr sz="1250" b="1" i="0" spc="160">
                <a:solidFill>
                  <a:srgbClr val="168A86"/>
                </a:solidFill>
                <a:latin typeface="Segoe UI"/>
              </a:rPr>
              <a:t>SCORING SAFELY</a:t>
            </a:r>
          </a:p>
        </p:txBody>
      </p:sp>
      <p:sp>
        <p:nvSpPr>
          <p:cNvPr id="3" name="TextBox 2"/>
          <p:cNvSpPr txBox="1"/>
          <p:nvPr/>
        </p:nvSpPr>
        <p:spPr>
          <a:xfrm>
            <a:off x="612647" y="658368"/>
            <a:ext cx="10607040" cy="640080"/>
          </a:xfrm>
          <a:prstGeom prst="rect">
            <a:avLst/>
          </a:prstGeom>
          <a:noFill/>
        </p:spPr>
        <p:txBody>
          <a:bodyPr wrap="square">
            <a:spAutoFit/>
          </a:bodyPr>
          <a:lstStyle/>
          <a:p>
            <a:r>
              <a:rPr sz="2200" b="1" i="0">
                <a:solidFill>
                  <a:srgbClr val="14253A"/>
                </a:solidFill>
                <a:latin typeface="Segoe UI"/>
              </a:rPr>
              <a:t>OpenAI: structured output, bounded retries, isolated secret</a:t>
            </a:r>
          </a:p>
        </p:txBody>
      </p:sp>
      <p:sp>
        <p:nvSpPr>
          <p:cNvPr id="4" name="Rectangle 3"/>
          <p:cNvSpPr/>
          <p:nvPr/>
        </p:nvSpPr>
        <p:spPr>
          <a:xfrm>
            <a:off x="640080" y="1353312"/>
            <a:ext cx="1051560" cy="3810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83080"/>
            <a:ext cx="10424160" cy="4206240"/>
          </a:xfrm>
          <a:prstGeom prst="rect">
            <a:avLst/>
          </a:prstGeom>
          <a:noFill/>
        </p:spPr>
        <p:txBody>
          <a:bodyPr wrap="square">
            <a:spAutoFit/>
          </a:bodyPr>
          <a:lstStyle/>
          <a:p>
            <a:pPr>
              <a:lnSpc>
                <a:spcPct val="110000"/>
              </a:lnSpc>
              <a:spcAft>
                <a:spcPts val="2000"/>
              </a:spcAft>
            </a:pPr>
            <a:r>
              <a:rPr sz="1800" b="1" i="0">
                <a:solidFill>
                  <a:srgbClr val="168A86"/>
                </a:solidFill>
                <a:latin typeface="Segoe UI"/>
              </a:rPr>
              <a:t>▸  </a:t>
            </a:r>
            <a:r>
              <a:rPr sz="1800" b="1" i="0">
                <a:solidFill>
                  <a:srgbClr val="14253A"/>
                </a:solidFill>
                <a:latin typeface="Segoe UI"/>
              </a:rPr>
              <a:t>The model returns a validated structured result</a:t>
            </a:r>
            <a:r>
              <a:rPr sz="1800" b="0" i="0">
                <a:solidFill>
                  <a:srgbClr val="1E242B"/>
                </a:solidFill>
                <a:latin typeface="Segoe UI"/>
              </a:rPr>
              <a:t> — sentiment, a 0–1 risk score, a one-sentence rationale — not text parsed out of free-form output</a:t>
            </a:r>
          </a:p>
          <a:p>
            <a:pPr>
              <a:lnSpc>
                <a:spcPct val="110000"/>
              </a:lnSpc>
              <a:spcAft>
                <a:spcPts val="2000"/>
              </a:spcAft>
            </a:pPr>
            <a:r>
              <a:rPr sz="1800" b="1" i="0">
                <a:solidFill>
                  <a:srgbClr val="168A86"/>
                </a:solidFill>
                <a:latin typeface="Segoe UI"/>
              </a:rPr>
              <a:t>▸  </a:t>
            </a:r>
            <a:r>
              <a:rPr sz="1800" b="0" i="0">
                <a:solidFill>
                  <a:srgbClr val="1E242B"/>
                </a:solidFill>
                <a:latin typeface="Segoe UI"/>
              </a:rPr>
              <a:t>Requests are bounded by a timeout and a small number of automatic retries, so one slow or failing call can't stall the worker indefinitely</a:t>
            </a:r>
          </a:p>
          <a:p>
            <a:pPr>
              <a:lnSpc>
                <a:spcPct val="110000"/>
              </a:lnSpc>
              <a:spcAft>
                <a:spcPts val="2000"/>
              </a:spcAft>
            </a:pPr>
            <a:r>
              <a:rPr sz="1800" b="1" i="0">
                <a:solidFill>
                  <a:srgbClr val="168A86"/>
                </a:solidFill>
                <a:latin typeface="Segoe UI"/>
              </a:rPr>
              <a:t>▸  </a:t>
            </a:r>
            <a:r>
              <a:rPr sz="1800" b="1" i="0">
                <a:solidFill>
                  <a:srgbClr val="14253A"/>
                </a:solidFill>
                <a:latin typeface="Segoe UI"/>
              </a:rPr>
              <a:t>A refusal is treated as a scoring failure like any other, and its explanation text is never stored or logged</a:t>
            </a:r>
            <a:r>
              <a:rPr sz="1800" b="0" i="0">
                <a:solidFill>
                  <a:srgbClr val="1E242B"/>
                </a:solidFill>
                <a:latin typeface="Segoe UI"/>
              </a:rPr>
              <a:t> — it can echo back part of the flagged input</a:t>
            </a:r>
          </a:p>
          <a:p>
            <a:pPr>
              <a:lnSpc>
                <a:spcPct val="110000"/>
              </a:lnSpc>
              <a:spcAft>
                <a:spcPts val="2000"/>
              </a:spcAft>
            </a:pPr>
            <a:r>
              <a:rPr sz="1800" b="1" i="0">
                <a:solidFill>
                  <a:srgbClr val="168A86"/>
                </a:solidFill>
                <a:latin typeface="Segoe UI"/>
              </a:rPr>
              <a:t>▸  </a:t>
            </a:r>
            <a:r>
              <a:rPr sz="1800" b="1" i="0">
                <a:solidFill>
                  <a:srgbClr val="14253A"/>
                </a:solidFill>
                <a:latin typeface="Segoe UI"/>
              </a:rPr>
              <a:t>The OpenAI API key is only ever injected into the worker</a:t>
            </a:r>
            <a:r>
              <a:rPr sz="1800" b="0" i="0">
                <a:solidFill>
                  <a:srgbClr val="1E242B"/>
                </a:solidFill>
                <a:latin typeface="Segoe UI"/>
              </a:rPr>
              <a:t> — the API service never receives it, because the API never calls OpenAI</a:t>
            </a:r>
          </a:p>
        </p:txBody>
      </p:sp>
      <p:sp>
        <p:nvSpPr>
          <p:cNvPr id="6" name="Rectangle 5"/>
          <p:cNvSpPr/>
          <p:nvPr/>
        </p:nvSpPr>
        <p:spPr>
          <a:xfrm>
            <a:off x="640080" y="6272784"/>
            <a:ext cx="10911535" cy="9525"/>
          </a:xfrm>
          <a:prstGeom prst="rect">
            <a:avLst/>
          </a:prstGeom>
          <a:solidFill>
            <a:srgbClr val="E1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82512"/>
            <a:ext cx="7315200" cy="292608"/>
          </a:xfrm>
          <a:prstGeom prst="rect">
            <a:avLst/>
          </a:prstGeom>
          <a:noFill/>
        </p:spPr>
        <p:txBody>
          <a:bodyPr wrap="none">
            <a:spAutoFit/>
          </a:bodyPr>
          <a:lstStyle/>
          <a:p>
            <a:r>
              <a:rPr sz="1000" b="0" i="0">
                <a:solidFill>
                  <a:srgbClr val="626E79"/>
                </a:solidFill>
                <a:latin typeface="Segoe UI"/>
              </a:rPr>
              <a:t>ConvoScore  ·  OpenAI integration</a:t>
            </a:r>
          </a:p>
        </p:txBody>
      </p:sp>
      <p:sp>
        <p:nvSpPr>
          <p:cNvPr id="8" name="TextBox 7"/>
          <p:cNvSpPr txBox="1"/>
          <p:nvPr/>
        </p:nvSpPr>
        <p:spPr>
          <a:xfrm>
            <a:off x="10362895" y="6382512"/>
            <a:ext cx="1188720" cy="292608"/>
          </a:xfrm>
          <a:prstGeom prst="rect">
            <a:avLst/>
          </a:prstGeom>
          <a:noFill/>
        </p:spPr>
        <p:txBody>
          <a:bodyPr wrap="none">
            <a:spAutoFit/>
          </a:bodyPr>
          <a:lstStyle/>
          <a:p>
            <a:pPr algn="r"/>
            <a:r>
              <a:rPr sz="1000" b="0" i="0">
                <a:solidFill>
                  <a:srgbClr val="B7C2CC"/>
                </a:solidFill>
                <a:latin typeface="Segoe UI"/>
              </a:rPr>
              <a:t>06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640080" y="384048"/>
            <a:ext cx="9601200" cy="292608"/>
          </a:xfrm>
          <a:prstGeom prst="rect">
            <a:avLst/>
          </a:prstGeom>
          <a:noFill/>
        </p:spPr>
        <p:txBody>
          <a:bodyPr wrap="none">
            <a:spAutoFit/>
          </a:bodyPr>
          <a:lstStyle/>
          <a:p>
            <a:r>
              <a:rPr sz="1250" b="1" i="0" spc="160">
                <a:solidFill>
                  <a:srgbClr val="168A86"/>
                </a:solidFill>
                <a:latin typeface="Segoe UI"/>
              </a:rPr>
              <a:t>STORAGE &amp; REVIEW</a:t>
            </a:r>
          </a:p>
        </p:txBody>
      </p:sp>
      <p:sp>
        <p:nvSpPr>
          <p:cNvPr id="3" name="TextBox 2"/>
          <p:cNvSpPr txBox="1"/>
          <p:nvPr/>
        </p:nvSpPr>
        <p:spPr>
          <a:xfrm>
            <a:off x="612647" y="658368"/>
            <a:ext cx="10607040" cy="640080"/>
          </a:xfrm>
          <a:prstGeom prst="rect">
            <a:avLst/>
          </a:prstGeom>
          <a:noFill/>
        </p:spPr>
        <p:txBody>
          <a:bodyPr wrap="square">
            <a:spAutoFit/>
          </a:bodyPr>
          <a:lstStyle/>
          <a:p>
            <a:r>
              <a:rPr sz="2700" b="1" i="0">
                <a:solidFill>
                  <a:srgbClr val="14253A"/>
                </a:solidFill>
                <a:latin typeface="Segoe UI"/>
              </a:rPr>
              <a:t>PostgreSQL durability, and a human in the loop</a:t>
            </a:r>
          </a:p>
        </p:txBody>
      </p:sp>
      <p:sp>
        <p:nvSpPr>
          <p:cNvPr id="4" name="Rectangle 3"/>
          <p:cNvSpPr/>
          <p:nvPr/>
        </p:nvSpPr>
        <p:spPr>
          <a:xfrm>
            <a:off x="640080" y="1353312"/>
            <a:ext cx="1051560" cy="3810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83080"/>
            <a:ext cx="5943600" cy="4023360"/>
          </a:xfrm>
          <a:prstGeom prst="rect">
            <a:avLst/>
          </a:prstGeom>
          <a:noFill/>
        </p:spPr>
        <p:txBody>
          <a:bodyPr wrap="square">
            <a:spAutoFit/>
          </a:bodyPr>
          <a:lstStyle/>
          <a:p>
            <a:pPr>
              <a:lnSpc>
                <a:spcPct val="110000"/>
              </a:lnSpc>
              <a:spcAft>
                <a:spcPts val="2000"/>
              </a:spcAft>
            </a:pPr>
            <a:r>
              <a:rPr sz="1650" b="1" i="0">
                <a:solidFill>
                  <a:srgbClr val="168A86"/>
                </a:solidFill>
                <a:latin typeface="Segoe UI"/>
              </a:rPr>
              <a:t>▸  </a:t>
            </a:r>
            <a:r>
              <a:rPr sz="1650" b="1" i="0">
                <a:solidFill>
                  <a:srgbClr val="14253A"/>
                </a:solidFill>
                <a:latin typeface="Segoe UI"/>
              </a:rPr>
              <a:t>One table, one clear state machine</a:t>
            </a:r>
            <a:r>
              <a:rPr sz="1650" b="0" i="0">
                <a:solidFill>
                  <a:srgbClr val="1E242B"/>
                </a:solidFill>
                <a:latin typeface="Segoe UI"/>
              </a:rPr>
              <a:t> — pending → processing → completed, or failed</a:t>
            </a:r>
          </a:p>
          <a:p>
            <a:pPr>
              <a:lnSpc>
                <a:spcPct val="110000"/>
              </a:lnSpc>
              <a:spcAft>
                <a:spcPts val="2000"/>
              </a:spcAft>
            </a:pPr>
            <a:r>
              <a:rPr sz="1650" b="1" i="0">
                <a:solidFill>
                  <a:srgbClr val="168A86"/>
                </a:solidFill>
                <a:latin typeface="Segoe UI"/>
              </a:rPr>
              <a:t>▸  </a:t>
            </a:r>
            <a:r>
              <a:rPr sz="1650" b="1" i="0">
                <a:solidFill>
                  <a:srgbClr val="14253A"/>
                </a:solidFill>
                <a:latin typeface="Segoe UI"/>
              </a:rPr>
              <a:t>Postgres runs as a StatefulSet with a PersistentVolumeClaim</a:t>
            </a:r>
            <a:r>
              <a:rPr sz="1650" b="0" i="0">
                <a:solidFill>
                  <a:srgbClr val="1E242B"/>
                </a:solidFill>
                <a:latin typeface="Segoe UI"/>
              </a:rPr>
              <a:t> — restart the pods and the data, including timestamps, survives unchanged</a:t>
            </a:r>
          </a:p>
          <a:p>
            <a:pPr>
              <a:lnSpc>
                <a:spcPct val="110000"/>
              </a:lnSpc>
              <a:spcAft>
                <a:spcPts val="2000"/>
              </a:spcAft>
            </a:pPr>
            <a:r>
              <a:rPr sz="1650" b="1" i="0">
                <a:solidFill>
                  <a:srgbClr val="168A86"/>
                </a:solidFill>
                <a:latin typeface="Segoe UI"/>
              </a:rPr>
              <a:t>▸  </a:t>
            </a:r>
            <a:r>
              <a:rPr sz="1650" b="1" i="0">
                <a:solidFill>
                  <a:srgbClr val="14253A"/>
                </a:solidFill>
                <a:latin typeface="Segoe UI"/>
              </a:rPr>
              <a:t>Review is two server-rendered pages</a:t>
            </a:r>
            <a:r>
              <a:rPr sz="1650" b="0" i="0">
                <a:solidFill>
                  <a:srgbClr val="1E242B"/>
                </a:solidFill>
                <a:latin typeface="Segoe UI"/>
              </a:rPr>
              <a:t> — a list and a detail view — no separate frontend to build or ship</a:t>
            </a:r>
          </a:p>
        </p:txBody>
      </p:sp>
      <p:pic>
        <p:nvPicPr>
          <p:cNvPr id="6" name="Picture 5" descr="review-detail.png"/>
          <p:cNvPicPr>
            <a:picLocks noChangeAspect="1"/>
          </p:cNvPicPr>
          <p:nvPr/>
        </p:nvPicPr>
        <p:blipFill>
          <a:blip r:embed="rId2"/>
          <a:stretch>
            <a:fillRect/>
          </a:stretch>
        </p:blipFill>
        <p:spPr>
          <a:xfrm>
            <a:off x="6903720" y="2131695"/>
            <a:ext cx="4617720" cy="3463290"/>
          </a:xfrm>
          <a:prstGeom prst="rect">
            <a:avLst/>
          </a:prstGeom>
          <a:ln w="12700">
            <a:solidFill>
              <a:srgbClr val="E1E5EA"/>
            </a:solidFill>
          </a:ln>
        </p:spPr>
      </p:pic>
      <p:sp>
        <p:nvSpPr>
          <p:cNvPr id="7" name="Rectangle 6"/>
          <p:cNvSpPr/>
          <p:nvPr/>
        </p:nvSpPr>
        <p:spPr>
          <a:xfrm>
            <a:off x="640080" y="6272784"/>
            <a:ext cx="10911535" cy="9525"/>
          </a:xfrm>
          <a:prstGeom prst="rect">
            <a:avLst/>
          </a:prstGeom>
          <a:solidFill>
            <a:srgbClr val="E1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82512"/>
            <a:ext cx="7315200" cy="292608"/>
          </a:xfrm>
          <a:prstGeom prst="rect">
            <a:avLst/>
          </a:prstGeom>
          <a:noFill/>
        </p:spPr>
        <p:txBody>
          <a:bodyPr wrap="none">
            <a:spAutoFit/>
          </a:bodyPr>
          <a:lstStyle/>
          <a:p>
            <a:r>
              <a:rPr sz="1000" b="0" i="0">
                <a:solidFill>
                  <a:srgbClr val="626E79"/>
                </a:solidFill>
                <a:latin typeface="Segoe UI"/>
              </a:rPr>
              <a:t>ConvoScore  ·  Storage and review</a:t>
            </a:r>
          </a:p>
        </p:txBody>
      </p:sp>
      <p:sp>
        <p:nvSpPr>
          <p:cNvPr id="9" name="TextBox 8"/>
          <p:cNvSpPr txBox="1"/>
          <p:nvPr/>
        </p:nvSpPr>
        <p:spPr>
          <a:xfrm>
            <a:off x="10362895" y="6382512"/>
            <a:ext cx="1188720" cy="292608"/>
          </a:xfrm>
          <a:prstGeom prst="rect">
            <a:avLst/>
          </a:prstGeom>
          <a:noFill/>
        </p:spPr>
        <p:txBody>
          <a:bodyPr wrap="none">
            <a:spAutoFit/>
          </a:bodyPr>
          <a:lstStyle/>
          <a:p>
            <a:pPr algn="r"/>
            <a:r>
              <a:rPr sz="1000" b="0" i="0">
                <a:solidFill>
                  <a:srgbClr val="B7C2CC"/>
                </a:solidFill>
                <a:latin typeface="Segoe UI"/>
              </a:rPr>
              <a:t>07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640080" y="384048"/>
            <a:ext cx="9601200" cy="292608"/>
          </a:xfrm>
          <a:prstGeom prst="rect">
            <a:avLst/>
          </a:prstGeom>
          <a:noFill/>
        </p:spPr>
        <p:txBody>
          <a:bodyPr wrap="none">
            <a:spAutoFit/>
          </a:bodyPr>
          <a:lstStyle/>
          <a:p>
            <a:r>
              <a:rPr sz="1250" b="1" i="0" spc="160">
                <a:solidFill>
                  <a:srgbClr val="168A86"/>
                </a:solidFill>
                <a:latin typeface="Segoe UI"/>
              </a:rPr>
              <a:t>OBSERVABILITY</a:t>
            </a:r>
          </a:p>
        </p:txBody>
      </p:sp>
      <p:sp>
        <p:nvSpPr>
          <p:cNvPr id="3" name="TextBox 2"/>
          <p:cNvSpPr txBox="1"/>
          <p:nvPr/>
        </p:nvSpPr>
        <p:spPr>
          <a:xfrm>
            <a:off x="612647" y="658368"/>
            <a:ext cx="10607040" cy="640080"/>
          </a:xfrm>
          <a:prstGeom prst="rect">
            <a:avLst/>
          </a:prstGeom>
          <a:noFill/>
        </p:spPr>
        <p:txBody>
          <a:bodyPr wrap="square">
            <a:spAutoFit/>
          </a:bodyPr>
          <a:lstStyle/>
          <a:p>
            <a:r>
              <a:rPr sz="2200" b="1" i="0">
                <a:solidFill>
                  <a:srgbClr val="14253A"/>
                </a:solidFill>
                <a:latin typeface="Segoe UI"/>
              </a:rPr>
              <a:t>Logs, metrics, a dashboard — and a failure induced on purpose</a:t>
            </a:r>
          </a:p>
        </p:txBody>
      </p:sp>
      <p:sp>
        <p:nvSpPr>
          <p:cNvPr id="4" name="Rectangle 3"/>
          <p:cNvSpPr/>
          <p:nvPr/>
        </p:nvSpPr>
        <p:spPr>
          <a:xfrm>
            <a:off x="640080" y="1353312"/>
            <a:ext cx="1051560" cy="3810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83080"/>
            <a:ext cx="5943600" cy="4114800"/>
          </a:xfrm>
          <a:prstGeom prst="rect">
            <a:avLst/>
          </a:prstGeom>
          <a:noFill/>
        </p:spPr>
        <p:txBody>
          <a:bodyPr wrap="square">
            <a:spAutoFit/>
          </a:bodyPr>
          <a:lstStyle/>
          <a:p>
            <a:pPr>
              <a:lnSpc>
                <a:spcPct val="110000"/>
              </a:lnSpc>
              <a:spcAft>
                <a:spcPts val="1800"/>
              </a:spcAft>
            </a:pPr>
            <a:r>
              <a:rPr sz="1550" b="1" i="0">
                <a:solidFill>
                  <a:srgbClr val="168A86"/>
                </a:solidFill>
                <a:latin typeface="Segoe UI"/>
              </a:rPr>
              <a:t>▸  </a:t>
            </a:r>
            <a:r>
              <a:rPr sz="1550" b="0" i="0">
                <a:solidFill>
                  <a:srgbClr val="1E242B"/>
                </a:solidFill>
                <a:latin typeface="Segoe UI"/>
              </a:rPr>
              <a:t>Structured JSON logs and Prometheus metrics cover latency, processing outcomes, DLQ depth, and OpenAI tokens/cost</a:t>
            </a:r>
          </a:p>
          <a:p>
            <a:pPr>
              <a:lnSpc>
                <a:spcPct val="110000"/>
              </a:lnSpc>
              <a:spcAft>
                <a:spcPts val="1800"/>
              </a:spcAft>
            </a:pPr>
            <a:r>
              <a:rPr sz="1550" b="1" i="0">
                <a:solidFill>
                  <a:srgbClr val="168A86"/>
                </a:solidFill>
                <a:latin typeface="Segoe UI"/>
              </a:rPr>
              <a:t>▸  </a:t>
            </a:r>
            <a:r>
              <a:rPr sz="1550" b="1" i="0">
                <a:solidFill>
                  <a:srgbClr val="14253A"/>
                </a:solidFill>
                <a:latin typeface="Segoe UI"/>
              </a:rPr>
              <a:t>A deterministic trigger fails one conversation on purpose</a:t>
            </a:r>
            <a:r>
              <a:rPr sz="1550" b="0" i="0">
                <a:solidFill>
                  <a:srgbClr val="1E242B"/>
                </a:solidFill>
                <a:latin typeface="Segoe UI"/>
              </a:rPr>
              <a:t> — it retries 3 times and lands in the DLQ, while a healthy conversation submitted alongside it completes normally the whole time</a:t>
            </a:r>
          </a:p>
          <a:p>
            <a:pPr>
              <a:lnSpc>
                <a:spcPct val="110000"/>
              </a:lnSpc>
              <a:spcAft>
                <a:spcPts val="1800"/>
              </a:spcAft>
            </a:pPr>
            <a:r>
              <a:rPr sz="1550" b="1" i="0">
                <a:solidFill>
                  <a:srgbClr val="168A86"/>
                </a:solidFill>
                <a:latin typeface="Segoe UI"/>
              </a:rPr>
              <a:t>▸  </a:t>
            </a:r>
            <a:r>
              <a:rPr sz="1550" b="1" i="0">
                <a:solidFill>
                  <a:srgbClr val="14253A"/>
                </a:solidFill>
                <a:latin typeface="Segoe UI"/>
              </a:rPr>
              <a:t>The dashboard and alerts show it live</a:t>
            </a:r>
            <a:r>
              <a:rPr sz="1550" b="0" i="0">
                <a:solidFill>
                  <a:srgbClr val="1E242B"/>
                </a:solidFill>
                <a:latin typeface="Segoe UI"/>
              </a:rPr>
              <a:t> — DLQ depth rises during the failure, and the alert clears once the message is drained</a:t>
            </a:r>
          </a:p>
        </p:txBody>
      </p:sp>
      <p:pic>
        <p:nvPicPr>
          <p:cNvPr id="6" name="Picture 5" descr="grafana-dashboard.png"/>
          <p:cNvPicPr>
            <a:picLocks noChangeAspect="1"/>
          </p:cNvPicPr>
          <p:nvPr/>
        </p:nvPicPr>
        <p:blipFill>
          <a:blip r:embed="rId2"/>
          <a:stretch>
            <a:fillRect/>
          </a:stretch>
        </p:blipFill>
        <p:spPr>
          <a:xfrm>
            <a:off x="6976456" y="1691640"/>
            <a:ext cx="4426527" cy="3246120"/>
          </a:xfrm>
          <a:prstGeom prst="rect">
            <a:avLst/>
          </a:prstGeom>
          <a:ln w="12700">
            <a:solidFill>
              <a:srgbClr val="E1E5EA"/>
            </a:solidFill>
          </a:ln>
        </p:spPr>
      </p:pic>
      <p:pic>
        <p:nvPicPr>
          <p:cNvPr id="7" name="Picture 6" descr="prometheus-alerts.png"/>
          <p:cNvPicPr>
            <a:picLocks noChangeAspect="1"/>
          </p:cNvPicPr>
          <p:nvPr/>
        </p:nvPicPr>
        <p:blipFill>
          <a:blip r:embed="rId3"/>
          <a:stretch>
            <a:fillRect/>
          </a:stretch>
        </p:blipFill>
        <p:spPr>
          <a:xfrm>
            <a:off x="7717536" y="5074920"/>
            <a:ext cx="2944368" cy="1051560"/>
          </a:xfrm>
          <a:prstGeom prst="rect">
            <a:avLst/>
          </a:prstGeom>
          <a:ln w="12700">
            <a:solidFill>
              <a:srgbClr val="E1E5EA"/>
            </a:solidFill>
          </a:ln>
        </p:spPr>
      </p:pic>
      <p:sp>
        <p:nvSpPr>
          <p:cNvPr id="8" name="Rectangle 7"/>
          <p:cNvSpPr/>
          <p:nvPr/>
        </p:nvSpPr>
        <p:spPr>
          <a:xfrm>
            <a:off x="640080" y="6272784"/>
            <a:ext cx="10911535" cy="9525"/>
          </a:xfrm>
          <a:prstGeom prst="rect">
            <a:avLst/>
          </a:prstGeom>
          <a:solidFill>
            <a:srgbClr val="E1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382512"/>
            <a:ext cx="7315200" cy="292608"/>
          </a:xfrm>
          <a:prstGeom prst="rect">
            <a:avLst/>
          </a:prstGeom>
          <a:noFill/>
        </p:spPr>
        <p:txBody>
          <a:bodyPr wrap="none">
            <a:spAutoFit/>
          </a:bodyPr>
          <a:lstStyle/>
          <a:p>
            <a:r>
              <a:rPr sz="1000" b="0" i="0">
                <a:solidFill>
                  <a:srgbClr val="626E79"/>
                </a:solidFill>
                <a:latin typeface="Segoe UI"/>
              </a:rPr>
              <a:t>ConvoScore  ·  Observability</a:t>
            </a:r>
          </a:p>
        </p:txBody>
      </p:sp>
      <p:sp>
        <p:nvSpPr>
          <p:cNvPr id="10" name="TextBox 9"/>
          <p:cNvSpPr txBox="1"/>
          <p:nvPr/>
        </p:nvSpPr>
        <p:spPr>
          <a:xfrm>
            <a:off x="10362895" y="6382512"/>
            <a:ext cx="1188720" cy="292608"/>
          </a:xfrm>
          <a:prstGeom prst="rect">
            <a:avLst/>
          </a:prstGeom>
          <a:noFill/>
        </p:spPr>
        <p:txBody>
          <a:bodyPr wrap="none">
            <a:spAutoFit/>
          </a:bodyPr>
          <a:lstStyle/>
          <a:p>
            <a:pPr algn="r"/>
            <a:r>
              <a:rPr sz="1000" b="0" i="0">
                <a:solidFill>
                  <a:srgbClr val="B7C2CC"/>
                </a:solidFill>
                <a:latin typeface="Segoe UI"/>
              </a:rPr>
              <a:t>08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640080" y="384048"/>
            <a:ext cx="9601200" cy="292608"/>
          </a:xfrm>
          <a:prstGeom prst="rect">
            <a:avLst/>
          </a:prstGeom>
          <a:noFill/>
        </p:spPr>
        <p:txBody>
          <a:bodyPr wrap="none">
            <a:spAutoFit/>
          </a:bodyPr>
          <a:lstStyle/>
          <a:p>
            <a:r>
              <a:rPr sz="1250" b="1" i="0" spc="160">
                <a:solidFill>
                  <a:srgbClr val="168A86"/>
                </a:solidFill>
                <a:latin typeface="Segoe UI"/>
              </a:rPr>
              <a:t>INFRASTRUCTURE</a:t>
            </a:r>
          </a:p>
        </p:txBody>
      </p:sp>
      <p:sp>
        <p:nvSpPr>
          <p:cNvPr id="3" name="TextBox 2"/>
          <p:cNvSpPr txBox="1"/>
          <p:nvPr/>
        </p:nvSpPr>
        <p:spPr>
          <a:xfrm>
            <a:off x="612647" y="658368"/>
            <a:ext cx="10607040" cy="640080"/>
          </a:xfrm>
          <a:prstGeom prst="rect">
            <a:avLst/>
          </a:prstGeom>
          <a:noFill/>
        </p:spPr>
        <p:txBody>
          <a:bodyPr wrap="square">
            <a:spAutoFit/>
          </a:bodyPr>
          <a:lstStyle/>
          <a:p>
            <a:r>
              <a:rPr sz="2200" b="1" i="0">
                <a:solidFill>
                  <a:srgbClr val="14253A"/>
                </a:solidFill>
                <a:latin typeface="Segoe UI"/>
              </a:rPr>
              <a:t>Terraform, one image, Helm, and secrets kept out of the chart</a:t>
            </a:r>
          </a:p>
        </p:txBody>
      </p:sp>
      <p:sp>
        <p:nvSpPr>
          <p:cNvPr id="4" name="Rectangle 3"/>
          <p:cNvSpPr/>
          <p:nvPr/>
        </p:nvSpPr>
        <p:spPr>
          <a:xfrm>
            <a:off x="640080" y="1353312"/>
            <a:ext cx="1051560" cy="3810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83080"/>
            <a:ext cx="10607040" cy="4206240"/>
          </a:xfrm>
          <a:prstGeom prst="rect">
            <a:avLst/>
          </a:prstGeom>
          <a:noFill/>
        </p:spPr>
        <p:txBody>
          <a:bodyPr wrap="square">
            <a:spAutoFit/>
          </a:bodyPr>
          <a:lstStyle/>
          <a:p>
            <a:pPr>
              <a:lnSpc>
                <a:spcPct val="110000"/>
              </a:lnSpc>
              <a:spcAft>
                <a:spcPts val="1700"/>
              </a:spcAft>
            </a:pPr>
            <a:r>
              <a:rPr sz="1650" b="1" i="0">
                <a:solidFill>
                  <a:srgbClr val="168A86"/>
                </a:solidFill>
                <a:latin typeface="Segoe UI"/>
              </a:rPr>
              <a:t>▸  </a:t>
            </a:r>
            <a:r>
              <a:rPr sz="1650" b="0" i="0">
                <a:solidFill>
                  <a:srgbClr val="1E242B"/>
                </a:solidFill>
                <a:latin typeface="Segoe UI"/>
              </a:rPr>
              <a:t>Terraform provisions the S3 bucket, the processing queue, its DLQ, and the event notification wiring them together</a:t>
            </a:r>
          </a:p>
          <a:p>
            <a:pPr>
              <a:lnSpc>
                <a:spcPct val="110000"/>
              </a:lnSpc>
              <a:spcAft>
                <a:spcPts val="1700"/>
              </a:spcAft>
            </a:pPr>
            <a:r>
              <a:rPr sz="1650" b="1" i="0">
                <a:solidFill>
                  <a:srgbClr val="168A86"/>
                </a:solidFill>
                <a:latin typeface="Segoe UI"/>
              </a:rPr>
              <a:t>▸  </a:t>
            </a:r>
            <a:r>
              <a:rPr sz="1650" b="1" i="0">
                <a:solidFill>
                  <a:srgbClr val="14253A"/>
                </a:solidFill>
                <a:latin typeface="Segoe UI"/>
              </a:rPr>
              <a:t>One Docker image, two runtime commands</a:t>
            </a:r>
            <a:r>
              <a:rPr sz="1650" b="0" i="0">
                <a:solidFill>
                  <a:srgbClr val="1E242B"/>
                </a:solidFill>
                <a:latin typeface="Segoe UI"/>
              </a:rPr>
              <a:t> — the API and worker run the same image; Helm just overrides the container command</a:t>
            </a:r>
          </a:p>
          <a:p>
            <a:pPr>
              <a:lnSpc>
                <a:spcPct val="110000"/>
              </a:lnSpc>
              <a:spcAft>
                <a:spcPts val="1700"/>
              </a:spcAft>
            </a:pPr>
            <a:r>
              <a:rPr sz="1650" b="1" i="0">
                <a:solidFill>
                  <a:srgbClr val="168A86"/>
                </a:solidFill>
                <a:latin typeface="Segoe UI"/>
              </a:rPr>
              <a:t>▸  </a:t>
            </a:r>
            <a:r>
              <a:rPr sz="1650" b="0" i="0">
                <a:solidFill>
                  <a:srgbClr val="1E242B"/>
                </a:solidFill>
                <a:latin typeface="Segoe UI"/>
              </a:rPr>
              <a:t>Deployed via Helm: non-root, read-only filesystem, health probes tuned to real startup behavior</a:t>
            </a:r>
          </a:p>
          <a:p>
            <a:pPr>
              <a:lnSpc>
                <a:spcPct val="110000"/>
              </a:lnSpc>
              <a:spcAft>
                <a:spcPts val="1700"/>
              </a:spcAft>
            </a:pPr>
            <a:r>
              <a:rPr sz="1650" b="1" i="0">
                <a:solidFill>
                  <a:srgbClr val="168A86"/>
                </a:solidFill>
                <a:latin typeface="Segoe UI"/>
              </a:rPr>
              <a:t>▸  </a:t>
            </a:r>
            <a:r>
              <a:rPr sz="1650" b="1" i="0">
                <a:solidFill>
                  <a:srgbClr val="14253A"/>
                </a:solidFill>
                <a:latin typeface="Segoe UI"/>
              </a:rPr>
              <a:t>Secrets are created out-of-band and referenced by name</a:t>
            </a:r>
            <a:r>
              <a:rPr sz="1650" b="0" i="0">
                <a:solidFill>
                  <a:srgbClr val="1E242B"/>
                </a:solidFill>
                <a:latin typeface="Segoe UI"/>
              </a:rPr>
              <a:t> — never templated into the chart or committed to Git; IAM policies follow least privilege per component</a:t>
            </a:r>
          </a:p>
        </p:txBody>
      </p:sp>
      <p:sp>
        <p:nvSpPr>
          <p:cNvPr id="6" name="Rectangle 5"/>
          <p:cNvSpPr/>
          <p:nvPr/>
        </p:nvSpPr>
        <p:spPr>
          <a:xfrm>
            <a:off x="640080" y="6272784"/>
            <a:ext cx="10911535" cy="9525"/>
          </a:xfrm>
          <a:prstGeom prst="rect">
            <a:avLst/>
          </a:prstGeom>
          <a:solidFill>
            <a:srgbClr val="E1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82512"/>
            <a:ext cx="7315200" cy="292608"/>
          </a:xfrm>
          <a:prstGeom prst="rect">
            <a:avLst/>
          </a:prstGeom>
          <a:noFill/>
        </p:spPr>
        <p:txBody>
          <a:bodyPr wrap="none">
            <a:spAutoFit/>
          </a:bodyPr>
          <a:lstStyle/>
          <a:p>
            <a:r>
              <a:rPr sz="1000" b="0" i="0">
                <a:solidFill>
                  <a:srgbClr val="626E79"/>
                </a:solidFill>
                <a:latin typeface="Segoe UI"/>
              </a:rPr>
              <a:t>ConvoScore  ·  Infrastructure</a:t>
            </a:r>
          </a:p>
        </p:txBody>
      </p:sp>
      <p:sp>
        <p:nvSpPr>
          <p:cNvPr id="8" name="TextBox 7"/>
          <p:cNvSpPr txBox="1"/>
          <p:nvPr/>
        </p:nvSpPr>
        <p:spPr>
          <a:xfrm>
            <a:off x="10362895" y="6382512"/>
            <a:ext cx="1188720" cy="292608"/>
          </a:xfrm>
          <a:prstGeom prst="rect">
            <a:avLst/>
          </a:prstGeom>
          <a:noFill/>
        </p:spPr>
        <p:txBody>
          <a:bodyPr wrap="none">
            <a:spAutoFit/>
          </a:bodyPr>
          <a:lstStyle/>
          <a:p>
            <a:pPr algn="r"/>
            <a:r>
              <a:rPr sz="1000" b="0" i="0">
                <a:solidFill>
                  <a:srgbClr val="B7C2CC"/>
                </a:solidFill>
                <a:latin typeface="Segoe UI"/>
              </a:rPr>
              <a:t>09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640080" y="384048"/>
            <a:ext cx="9601200" cy="292608"/>
          </a:xfrm>
          <a:prstGeom prst="rect">
            <a:avLst/>
          </a:prstGeom>
          <a:noFill/>
        </p:spPr>
        <p:txBody>
          <a:bodyPr wrap="none">
            <a:spAutoFit/>
          </a:bodyPr>
          <a:lstStyle/>
          <a:p>
            <a:r>
              <a:rPr sz="1250" b="1" i="0" spc="160">
                <a:solidFill>
                  <a:srgbClr val="168A86"/>
                </a:solidFill>
                <a:latin typeface="Segoe UI"/>
              </a:rPr>
              <a:t>LOOKING AHEAD</a:t>
            </a:r>
          </a:p>
        </p:txBody>
      </p:sp>
      <p:sp>
        <p:nvSpPr>
          <p:cNvPr id="3" name="TextBox 2"/>
          <p:cNvSpPr txBox="1"/>
          <p:nvPr/>
        </p:nvSpPr>
        <p:spPr>
          <a:xfrm>
            <a:off x="612647" y="658368"/>
            <a:ext cx="10607040" cy="640080"/>
          </a:xfrm>
          <a:prstGeom prst="rect">
            <a:avLst/>
          </a:prstGeom>
          <a:noFill/>
        </p:spPr>
        <p:txBody>
          <a:bodyPr wrap="square">
            <a:spAutoFit/>
          </a:bodyPr>
          <a:lstStyle/>
          <a:p>
            <a:r>
              <a:rPr sz="2700" b="1" i="0">
                <a:solidFill>
                  <a:srgbClr val="14253A"/>
                </a:solidFill>
                <a:latin typeface="Segoe UI"/>
              </a:rPr>
              <a:t>Production deployment roadmap</a:t>
            </a:r>
          </a:p>
        </p:txBody>
      </p:sp>
      <p:sp>
        <p:nvSpPr>
          <p:cNvPr id="4" name="Rectangle 3"/>
          <p:cNvSpPr/>
          <p:nvPr/>
        </p:nvSpPr>
        <p:spPr>
          <a:xfrm>
            <a:off x="640080" y="1353312"/>
            <a:ext cx="1051560" cy="3810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44752"/>
            <a:ext cx="10607040" cy="274320"/>
          </a:xfrm>
          <a:prstGeom prst="rect">
            <a:avLst/>
          </a:prstGeom>
          <a:noFill/>
        </p:spPr>
        <p:txBody>
          <a:bodyPr wrap="none">
            <a:spAutoFit/>
          </a:bodyPr>
          <a:lstStyle/>
          <a:p>
            <a:r>
              <a:rPr sz="1200" b="0" i="1">
                <a:solidFill>
                  <a:srgbClr val="626E79"/>
                </a:solidFill>
                <a:latin typeface="Segoe UI"/>
              </a:rPr>
              <a:t>A proposed CI/CD path for production — not part of this take-home's current deployment</a:t>
            </a:r>
          </a:p>
        </p:txBody>
      </p:sp>
      <p:sp>
        <p:nvSpPr>
          <p:cNvPr id="6" name="Rounded Rectangle 5"/>
          <p:cNvSpPr/>
          <p:nvPr/>
        </p:nvSpPr>
        <p:spPr>
          <a:xfrm>
            <a:off x="640080" y="1874519"/>
            <a:ext cx="1600200" cy="868680"/>
          </a:xfrm>
          <a:prstGeom prst="roundRect">
            <a:avLst>
              <a:gd name="adj" fmla="val 12000"/>
            </a:avLst>
          </a:prstGeom>
          <a:solidFill>
            <a:srgbClr val="4A5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Application
repository</a:t>
            </a:r>
          </a:p>
        </p:txBody>
      </p:sp>
      <p:sp>
        <p:nvSpPr>
          <p:cNvPr id="7" name="Rounded Rectangle 6"/>
          <p:cNvSpPr/>
          <p:nvPr/>
        </p:nvSpPr>
        <p:spPr>
          <a:xfrm>
            <a:off x="2441448" y="1874519"/>
            <a:ext cx="1600200" cy="868680"/>
          </a:xfrm>
          <a:prstGeom prst="roundRect">
            <a:avLst>
              <a:gd name="adj" fmla="val 12000"/>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CI pipeline</a:t>
            </a:r>
          </a:p>
        </p:txBody>
      </p:sp>
      <p:sp>
        <p:nvSpPr>
          <p:cNvPr id="8" name="Rounded Rectangle 7"/>
          <p:cNvSpPr/>
          <p:nvPr/>
        </p:nvSpPr>
        <p:spPr>
          <a:xfrm>
            <a:off x="4242816" y="1874519"/>
            <a:ext cx="1600200" cy="868680"/>
          </a:xfrm>
          <a:prstGeom prst="roundRect">
            <a:avLst>
              <a:gd name="adj" fmla="val 12000"/>
            </a:avLst>
          </a:prstGeom>
          <a:solidFill>
            <a:srgbClr val="4A5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Container
registry</a:t>
            </a:r>
          </a:p>
        </p:txBody>
      </p:sp>
      <p:sp>
        <p:nvSpPr>
          <p:cNvPr id="9" name="Rounded Rectangle 8"/>
          <p:cNvSpPr/>
          <p:nvPr/>
        </p:nvSpPr>
        <p:spPr>
          <a:xfrm>
            <a:off x="6044184" y="1874519"/>
            <a:ext cx="1600200" cy="868680"/>
          </a:xfrm>
          <a:prstGeom prst="roundRect">
            <a:avLst>
              <a:gd name="adj" fmla="val 12000"/>
            </a:avLst>
          </a:prstGeom>
          <a:solidFill>
            <a:srgbClr val="C97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GitOps
repository</a:t>
            </a:r>
          </a:p>
        </p:txBody>
      </p:sp>
      <p:sp>
        <p:nvSpPr>
          <p:cNvPr id="10" name="Rounded Rectangle 9"/>
          <p:cNvSpPr/>
          <p:nvPr/>
        </p:nvSpPr>
        <p:spPr>
          <a:xfrm>
            <a:off x="7845552" y="1874519"/>
            <a:ext cx="1600200" cy="868680"/>
          </a:xfrm>
          <a:prstGeom prst="roundRect">
            <a:avLst>
              <a:gd name="adj" fmla="val 12000"/>
            </a:avLst>
          </a:prstGeom>
          <a:solidFill>
            <a:srgbClr val="0F66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250" b="1" i="0">
                <a:solidFill>
                  <a:srgbClr val="FFFFFF"/>
                </a:solidFill>
                <a:latin typeface="Segoe UI"/>
              </a:rPr>
              <a:t>Argo CD</a:t>
            </a:r>
          </a:p>
        </p:txBody>
      </p:sp>
      <p:sp>
        <p:nvSpPr>
          <p:cNvPr id="11" name="Rounded Rectangle 10"/>
          <p:cNvSpPr/>
          <p:nvPr/>
        </p:nvSpPr>
        <p:spPr>
          <a:xfrm>
            <a:off x="9646919" y="1874519"/>
            <a:ext cx="1600200" cy="868680"/>
          </a:xfrm>
          <a:prstGeom prst="roundRect">
            <a:avLst>
              <a:gd name="adj" fmla="val 12000"/>
            </a:avLst>
          </a:prstGeom>
          <a:solidFill>
            <a:srgbClr val="1425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00000"/>
              </a:lnSpc>
            </a:pPr>
            <a:r>
              <a:rPr sz="1150" b="1" i="0">
                <a:solidFill>
                  <a:srgbClr val="FFFFFF"/>
                </a:solidFill>
                <a:latin typeface="Segoe UI"/>
              </a:rPr>
              <a:t>Kubernetes
production
cluster</a:t>
            </a:r>
          </a:p>
        </p:txBody>
      </p:sp>
      <p:cxnSp>
        <p:nvCxnSpPr>
          <p:cNvPr id="12" name="Connector 11"/>
          <p:cNvCxnSpPr/>
          <p:nvPr/>
        </p:nvCxnSpPr>
        <p:spPr>
          <a:xfrm>
            <a:off x="2240280" y="2308860"/>
            <a:ext cx="201168" cy="0"/>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540764" y="2834640"/>
            <a:ext cx="1600200" cy="274320"/>
          </a:xfrm>
          <a:prstGeom prst="rect">
            <a:avLst/>
          </a:prstGeom>
          <a:noFill/>
        </p:spPr>
        <p:txBody>
          <a:bodyPr wrap="none" lIns="0" rIns="0">
            <a:spAutoFit/>
          </a:bodyPr>
          <a:lstStyle/>
          <a:p>
            <a:pPr algn="ctr"/>
            <a:r>
              <a:rPr sz="1050" b="0" i="0">
                <a:solidFill>
                  <a:srgbClr val="626E79"/>
                </a:solidFill>
                <a:latin typeface="Segoe UI"/>
              </a:rPr>
              <a:t>commit</a:t>
            </a:r>
          </a:p>
        </p:txBody>
      </p:sp>
      <p:cxnSp>
        <p:nvCxnSpPr>
          <p:cNvPr id="14" name="Connector 13"/>
          <p:cNvCxnSpPr/>
          <p:nvPr/>
        </p:nvCxnSpPr>
        <p:spPr>
          <a:xfrm>
            <a:off x="4041648" y="2308860"/>
            <a:ext cx="201168" cy="0"/>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342131" y="2834640"/>
            <a:ext cx="1600200" cy="274320"/>
          </a:xfrm>
          <a:prstGeom prst="rect">
            <a:avLst/>
          </a:prstGeom>
          <a:noFill/>
        </p:spPr>
        <p:txBody>
          <a:bodyPr wrap="none" lIns="0" rIns="0">
            <a:spAutoFit/>
          </a:bodyPr>
          <a:lstStyle/>
          <a:p>
            <a:pPr algn="ctr"/>
            <a:r>
              <a:rPr sz="1050" b="0" i="0">
                <a:solidFill>
                  <a:srgbClr val="626E79"/>
                </a:solidFill>
                <a:latin typeface="Segoe UI"/>
              </a:rPr>
              <a:t>build &amp; push</a:t>
            </a:r>
          </a:p>
        </p:txBody>
      </p:sp>
      <p:cxnSp>
        <p:nvCxnSpPr>
          <p:cNvPr id="16" name="Connector 15"/>
          <p:cNvCxnSpPr/>
          <p:nvPr/>
        </p:nvCxnSpPr>
        <p:spPr>
          <a:xfrm>
            <a:off x="5843016" y="2308860"/>
            <a:ext cx="201168" cy="0"/>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143500" y="2834640"/>
            <a:ext cx="1600200" cy="274320"/>
          </a:xfrm>
          <a:prstGeom prst="rect">
            <a:avLst/>
          </a:prstGeom>
          <a:noFill/>
        </p:spPr>
        <p:txBody>
          <a:bodyPr wrap="none" lIns="0" rIns="0">
            <a:spAutoFit/>
          </a:bodyPr>
          <a:lstStyle/>
          <a:p>
            <a:pPr algn="ctr"/>
            <a:r>
              <a:rPr sz="1050" b="0" i="0">
                <a:solidFill>
                  <a:srgbClr val="626E79"/>
                </a:solidFill>
                <a:latin typeface="Segoe UI"/>
              </a:rPr>
              <a:t>update tag</a:t>
            </a:r>
          </a:p>
        </p:txBody>
      </p:sp>
      <p:cxnSp>
        <p:nvCxnSpPr>
          <p:cNvPr id="18" name="Connector 17"/>
          <p:cNvCxnSpPr/>
          <p:nvPr/>
        </p:nvCxnSpPr>
        <p:spPr>
          <a:xfrm>
            <a:off x="7644383" y="2308860"/>
            <a:ext cx="201169" cy="0"/>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944867" y="2834640"/>
            <a:ext cx="1600200" cy="274320"/>
          </a:xfrm>
          <a:prstGeom prst="rect">
            <a:avLst/>
          </a:prstGeom>
          <a:noFill/>
        </p:spPr>
        <p:txBody>
          <a:bodyPr wrap="none" lIns="0" rIns="0">
            <a:spAutoFit/>
          </a:bodyPr>
          <a:lstStyle/>
          <a:p>
            <a:pPr algn="ctr"/>
            <a:r>
              <a:rPr sz="1050" b="0" i="0">
                <a:solidFill>
                  <a:srgbClr val="626E79"/>
                </a:solidFill>
                <a:latin typeface="Segoe UI"/>
              </a:rPr>
              <a:t>git sync</a:t>
            </a:r>
          </a:p>
        </p:txBody>
      </p:sp>
      <p:cxnSp>
        <p:nvCxnSpPr>
          <p:cNvPr id="20" name="Connector 19"/>
          <p:cNvCxnSpPr/>
          <p:nvPr/>
        </p:nvCxnSpPr>
        <p:spPr>
          <a:xfrm>
            <a:off x="9445752" y="2308860"/>
            <a:ext cx="201167" cy="0"/>
          </a:xfrm>
          <a:prstGeom prst="line">
            <a:avLst/>
          </a:prstGeom>
          <a:ln w="22225">
            <a:solidFill>
              <a:srgbClr val="4A5A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746236" y="2834640"/>
            <a:ext cx="1600200" cy="274320"/>
          </a:xfrm>
          <a:prstGeom prst="rect">
            <a:avLst/>
          </a:prstGeom>
          <a:noFill/>
        </p:spPr>
        <p:txBody>
          <a:bodyPr wrap="none" lIns="0" rIns="0">
            <a:spAutoFit/>
          </a:bodyPr>
          <a:lstStyle/>
          <a:p>
            <a:pPr algn="ctr"/>
            <a:r>
              <a:rPr sz="1050" b="0" i="0">
                <a:solidFill>
                  <a:srgbClr val="626E79"/>
                </a:solidFill>
                <a:latin typeface="Segoe UI"/>
              </a:rPr>
              <a:t>deploy</a:t>
            </a:r>
          </a:p>
        </p:txBody>
      </p:sp>
      <p:sp>
        <p:nvSpPr>
          <p:cNvPr id="22" name="Rounded Rectangle 21"/>
          <p:cNvSpPr/>
          <p:nvPr/>
        </p:nvSpPr>
        <p:spPr>
          <a:xfrm>
            <a:off x="640080" y="3337560"/>
            <a:ext cx="5074920" cy="1234440"/>
          </a:xfrm>
          <a:prstGeom prst="roundRect">
            <a:avLst>
              <a:gd name="adj" fmla="val 3500"/>
            </a:avLst>
          </a:prstGeom>
          <a:solidFill>
            <a:srgbClr val="FFFFFF"/>
          </a:solidFill>
          <a:ln w="9525">
            <a:solidFill>
              <a:srgbClr val="E1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6384" y="3337560"/>
            <a:ext cx="4782312" cy="40640"/>
          </a:xfrm>
          <a:prstGeom prst="rect">
            <a:avLst/>
          </a:prstGeom>
          <a:solidFill>
            <a:srgbClr val="4A5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68680" y="3520440"/>
            <a:ext cx="292608" cy="292608"/>
          </a:xfrm>
          <a:prstGeom prst="ellipse">
            <a:avLst/>
          </a:prstGeom>
          <a:solidFill>
            <a:srgbClr val="4A5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50" b="1" i="0">
                <a:solidFill>
                  <a:srgbClr val="FFFFFF"/>
                </a:solidFill>
                <a:latin typeface="Segoe UI"/>
              </a:rPr>
              <a:t>1</a:t>
            </a:r>
          </a:p>
        </p:txBody>
      </p:sp>
      <p:sp>
        <p:nvSpPr>
          <p:cNvPr id="25" name="TextBox 24"/>
          <p:cNvSpPr txBox="1"/>
          <p:nvPr/>
        </p:nvSpPr>
        <p:spPr>
          <a:xfrm>
            <a:off x="1280160" y="3474720"/>
            <a:ext cx="4160520" cy="320040"/>
          </a:xfrm>
          <a:prstGeom prst="rect">
            <a:avLst/>
          </a:prstGeom>
          <a:noFill/>
        </p:spPr>
        <p:txBody>
          <a:bodyPr wrap="none">
            <a:spAutoFit/>
          </a:bodyPr>
          <a:lstStyle/>
          <a:p>
            <a:r>
              <a:rPr sz="1450" b="1" i="0">
                <a:solidFill>
                  <a:srgbClr val="14253A"/>
                </a:solidFill>
                <a:latin typeface="Segoe UI"/>
              </a:rPr>
              <a:t>Repository separation</a:t>
            </a:r>
          </a:p>
        </p:txBody>
      </p:sp>
      <p:sp>
        <p:nvSpPr>
          <p:cNvPr id="26" name="TextBox 25"/>
          <p:cNvSpPr txBox="1"/>
          <p:nvPr/>
        </p:nvSpPr>
        <p:spPr>
          <a:xfrm>
            <a:off x="868680" y="3867911"/>
            <a:ext cx="4617720" cy="640080"/>
          </a:xfrm>
          <a:prstGeom prst="rect">
            <a:avLst/>
          </a:prstGeom>
          <a:noFill/>
        </p:spPr>
        <p:txBody>
          <a:bodyPr wrap="square">
            <a:spAutoFit/>
          </a:bodyPr>
          <a:lstStyle/>
          <a:p>
            <a:pPr>
              <a:lnSpc>
                <a:spcPct val="105000"/>
              </a:lnSpc>
            </a:pPr>
            <a:r>
              <a:rPr sz="1250" b="0" i="0">
                <a:solidFill>
                  <a:srgbClr val="1E242B"/>
                </a:solidFill>
                <a:latin typeface="Segoe UI"/>
              </a:rPr>
              <a:t>App code and the Dockerfile stay here; Helm config moves to a separate GitOps repo — Terraform can split out too.</a:t>
            </a:r>
          </a:p>
        </p:txBody>
      </p:sp>
      <p:sp>
        <p:nvSpPr>
          <p:cNvPr id="27" name="Rounded Rectangle 26"/>
          <p:cNvSpPr/>
          <p:nvPr/>
        </p:nvSpPr>
        <p:spPr>
          <a:xfrm>
            <a:off x="6172200" y="3337560"/>
            <a:ext cx="5074920" cy="1234440"/>
          </a:xfrm>
          <a:prstGeom prst="roundRect">
            <a:avLst>
              <a:gd name="adj" fmla="val 3500"/>
            </a:avLst>
          </a:prstGeom>
          <a:solidFill>
            <a:srgbClr val="FFFFFF"/>
          </a:solidFill>
          <a:ln w="9525">
            <a:solidFill>
              <a:srgbClr val="E1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18504" y="3337560"/>
            <a:ext cx="4782312" cy="40640"/>
          </a:xfrm>
          <a:prstGeom prst="rect">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00800" y="3520440"/>
            <a:ext cx="292608" cy="292608"/>
          </a:xfrm>
          <a:prstGeom prst="ellipse">
            <a:avLst/>
          </a:prstGeom>
          <a:solidFill>
            <a:srgbClr val="168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50" b="1" i="0">
                <a:solidFill>
                  <a:srgbClr val="FFFFFF"/>
                </a:solidFill>
                <a:latin typeface="Segoe UI"/>
              </a:rPr>
              <a:t>2</a:t>
            </a:r>
          </a:p>
        </p:txBody>
      </p:sp>
      <p:sp>
        <p:nvSpPr>
          <p:cNvPr id="30" name="TextBox 29"/>
          <p:cNvSpPr txBox="1"/>
          <p:nvPr/>
        </p:nvSpPr>
        <p:spPr>
          <a:xfrm>
            <a:off x="6812280" y="3474720"/>
            <a:ext cx="4160520" cy="320040"/>
          </a:xfrm>
          <a:prstGeom prst="rect">
            <a:avLst/>
          </a:prstGeom>
          <a:noFill/>
        </p:spPr>
        <p:txBody>
          <a:bodyPr wrap="none">
            <a:spAutoFit/>
          </a:bodyPr>
          <a:lstStyle/>
          <a:p>
            <a:r>
              <a:rPr sz="1450" b="1" i="0">
                <a:solidFill>
                  <a:srgbClr val="14253A"/>
                </a:solidFill>
                <a:latin typeface="Segoe UI"/>
              </a:rPr>
              <a:t>CI pipeline</a:t>
            </a:r>
          </a:p>
        </p:txBody>
      </p:sp>
      <p:sp>
        <p:nvSpPr>
          <p:cNvPr id="31" name="TextBox 30"/>
          <p:cNvSpPr txBox="1"/>
          <p:nvPr/>
        </p:nvSpPr>
        <p:spPr>
          <a:xfrm>
            <a:off x="6400800" y="3867911"/>
            <a:ext cx="4617720" cy="640080"/>
          </a:xfrm>
          <a:prstGeom prst="rect">
            <a:avLst/>
          </a:prstGeom>
          <a:noFill/>
        </p:spPr>
        <p:txBody>
          <a:bodyPr wrap="square">
            <a:spAutoFit/>
          </a:bodyPr>
          <a:lstStyle/>
          <a:p>
            <a:pPr>
              <a:lnSpc>
                <a:spcPct val="105000"/>
              </a:lnSpc>
            </a:pPr>
            <a:r>
              <a:rPr sz="1250" b="0" i="0">
                <a:solidFill>
                  <a:srgbClr val="1E242B"/>
                </a:solidFill>
                <a:latin typeface="Segoe UI"/>
              </a:rPr>
              <a:t>Every change: tests, security scan, build, tag with the commit SHA, push to the registry, then update the GitOps repo's tag.</a:t>
            </a:r>
          </a:p>
        </p:txBody>
      </p:sp>
      <p:sp>
        <p:nvSpPr>
          <p:cNvPr id="32" name="Rounded Rectangle 31"/>
          <p:cNvSpPr/>
          <p:nvPr/>
        </p:nvSpPr>
        <p:spPr>
          <a:xfrm>
            <a:off x="640080" y="4754880"/>
            <a:ext cx="5074920" cy="1234440"/>
          </a:xfrm>
          <a:prstGeom prst="roundRect">
            <a:avLst>
              <a:gd name="adj" fmla="val 3500"/>
            </a:avLst>
          </a:prstGeom>
          <a:solidFill>
            <a:srgbClr val="FFFFFF"/>
          </a:solidFill>
          <a:ln w="9525">
            <a:solidFill>
              <a:srgbClr val="E1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6384" y="4754880"/>
            <a:ext cx="4782312" cy="40640"/>
          </a:xfrm>
          <a:prstGeom prst="rect">
            <a:avLst/>
          </a:prstGeom>
          <a:solidFill>
            <a:srgbClr val="0F66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68680" y="4937760"/>
            <a:ext cx="292608" cy="292608"/>
          </a:xfrm>
          <a:prstGeom prst="ellipse">
            <a:avLst/>
          </a:prstGeom>
          <a:solidFill>
            <a:srgbClr val="0F66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50" b="1" i="0">
                <a:solidFill>
                  <a:srgbClr val="FFFFFF"/>
                </a:solidFill>
                <a:latin typeface="Segoe UI"/>
              </a:rPr>
              <a:t>3</a:t>
            </a:r>
          </a:p>
        </p:txBody>
      </p:sp>
      <p:sp>
        <p:nvSpPr>
          <p:cNvPr id="35" name="TextBox 34"/>
          <p:cNvSpPr txBox="1"/>
          <p:nvPr/>
        </p:nvSpPr>
        <p:spPr>
          <a:xfrm>
            <a:off x="1280160" y="4892040"/>
            <a:ext cx="4160520" cy="320040"/>
          </a:xfrm>
          <a:prstGeom prst="rect">
            <a:avLst/>
          </a:prstGeom>
          <a:noFill/>
        </p:spPr>
        <p:txBody>
          <a:bodyPr wrap="none">
            <a:spAutoFit/>
          </a:bodyPr>
          <a:lstStyle/>
          <a:p>
            <a:r>
              <a:rPr sz="1450" b="1" i="0">
                <a:solidFill>
                  <a:srgbClr val="14253A"/>
                </a:solidFill>
                <a:latin typeface="Segoe UI"/>
              </a:rPr>
              <a:t>Argo CD deployment</a:t>
            </a:r>
          </a:p>
        </p:txBody>
      </p:sp>
      <p:sp>
        <p:nvSpPr>
          <p:cNvPr id="36" name="TextBox 35"/>
          <p:cNvSpPr txBox="1"/>
          <p:nvPr/>
        </p:nvSpPr>
        <p:spPr>
          <a:xfrm>
            <a:off x="868680" y="5285232"/>
            <a:ext cx="4617720" cy="640080"/>
          </a:xfrm>
          <a:prstGeom prst="rect">
            <a:avLst/>
          </a:prstGeom>
          <a:noFill/>
        </p:spPr>
        <p:txBody>
          <a:bodyPr wrap="square">
            <a:spAutoFit/>
          </a:bodyPr>
          <a:lstStyle/>
          <a:p>
            <a:pPr>
              <a:lnSpc>
                <a:spcPct val="105000"/>
              </a:lnSpc>
            </a:pPr>
            <a:r>
              <a:rPr sz="1250" b="0" i="0">
                <a:solidFill>
                  <a:srgbClr val="1E242B"/>
                </a:solidFill>
                <a:latin typeface="Segoe UI"/>
              </a:rPr>
              <a:t>Argo CD syncs the GitOps repo into the cluster — changes reviewed via Git, rollback by reverting to a known-good commit.</a:t>
            </a:r>
          </a:p>
        </p:txBody>
      </p:sp>
      <p:sp>
        <p:nvSpPr>
          <p:cNvPr id="37" name="Rounded Rectangle 36"/>
          <p:cNvSpPr/>
          <p:nvPr/>
        </p:nvSpPr>
        <p:spPr>
          <a:xfrm>
            <a:off x="6172200" y="4754880"/>
            <a:ext cx="5074920" cy="1234440"/>
          </a:xfrm>
          <a:prstGeom prst="roundRect">
            <a:avLst>
              <a:gd name="adj" fmla="val 3500"/>
            </a:avLst>
          </a:prstGeom>
          <a:solidFill>
            <a:srgbClr val="FFFFFF"/>
          </a:solidFill>
          <a:ln w="9525">
            <a:solidFill>
              <a:srgbClr val="E1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318504" y="4754880"/>
            <a:ext cx="4782312" cy="40640"/>
          </a:xfrm>
          <a:prstGeom prst="rect">
            <a:avLst/>
          </a:prstGeom>
          <a:solidFill>
            <a:srgbClr val="142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400800" y="4937760"/>
            <a:ext cx="292608" cy="292608"/>
          </a:xfrm>
          <a:prstGeom prst="ellipse">
            <a:avLst/>
          </a:prstGeom>
          <a:solidFill>
            <a:srgbClr val="1425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50" b="1" i="0">
                <a:solidFill>
                  <a:srgbClr val="FFFFFF"/>
                </a:solidFill>
                <a:latin typeface="Segoe UI"/>
              </a:rPr>
              <a:t>4</a:t>
            </a:r>
          </a:p>
        </p:txBody>
      </p:sp>
      <p:sp>
        <p:nvSpPr>
          <p:cNvPr id="40" name="TextBox 39"/>
          <p:cNvSpPr txBox="1"/>
          <p:nvPr/>
        </p:nvSpPr>
        <p:spPr>
          <a:xfrm>
            <a:off x="6812280" y="4892040"/>
            <a:ext cx="4160520" cy="320040"/>
          </a:xfrm>
          <a:prstGeom prst="rect">
            <a:avLst/>
          </a:prstGeom>
          <a:noFill/>
        </p:spPr>
        <p:txBody>
          <a:bodyPr wrap="none">
            <a:spAutoFit/>
          </a:bodyPr>
          <a:lstStyle/>
          <a:p>
            <a:r>
              <a:rPr sz="1450" b="1" i="0">
                <a:solidFill>
                  <a:srgbClr val="14253A"/>
                </a:solidFill>
                <a:latin typeface="Segoe UI"/>
              </a:rPr>
              <a:t>Production reliability</a:t>
            </a:r>
          </a:p>
        </p:txBody>
      </p:sp>
      <p:sp>
        <p:nvSpPr>
          <p:cNvPr id="41" name="TextBox 40"/>
          <p:cNvSpPr txBox="1"/>
          <p:nvPr/>
        </p:nvSpPr>
        <p:spPr>
          <a:xfrm>
            <a:off x="6400800" y="5285232"/>
            <a:ext cx="4617720" cy="640080"/>
          </a:xfrm>
          <a:prstGeom prst="rect">
            <a:avLst/>
          </a:prstGeom>
          <a:noFill/>
        </p:spPr>
        <p:txBody>
          <a:bodyPr wrap="square">
            <a:spAutoFit/>
          </a:bodyPr>
          <a:lstStyle/>
          <a:p>
            <a:pPr>
              <a:lnSpc>
                <a:spcPct val="105000"/>
              </a:lnSpc>
            </a:pPr>
            <a:r>
              <a:rPr sz="1250" b="0" i="0">
                <a:solidFill>
                  <a:srgbClr val="1E242B"/>
                </a:solidFill>
                <a:latin typeface="Segoe UI"/>
              </a:rPr>
              <a:t>Managed RDS/SQS/S3/DLQ, a cloud secret manager and workload identity, multiple replicas, queue-depth autoscaling, monitoring and backups.</a:t>
            </a:r>
          </a:p>
        </p:txBody>
      </p:sp>
      <p:sp>
        <p:nvSpPr>
          <p:cNvPr id="42" name="Rectangle 41"/>
          <p:cNvSpPr/>
          <p:nvPr/>
        </p:nvSpPr>
        <p:spPr>
          <a:xfrm>
            <a:off x="640080" y="6272784"/>
            <a:ext cx="10911535" cy="9525"/>
          </a:xfrm>
          <a:prstGeom prst="rect">
            <a:avLst/>
          </a:prstGeom>
          <a:solidFill>
            <a:srgbClr val="E1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6382512"/>
            <a:ext cx="7315200" cy="292608"/>
          </a:xfrm>
          <a:prstGeom prst="rect">
            <a:avLst/>
          </a:prstGeom>
          <a:noFill/>
        </p:spPr>
        <p:txBody>
          <a:bodyPr wrap="none">
            <a:spAutoFit/>
          </a:bodyPr>
          <a:lstStyle/>
          <a:p>
            <a:r>
              <a:rPr sz="1000" b="0" i="0">
                <a:solidFill>
                  <a:srgbClr val="626E79"/>
                </a:solidFill>
                <a:latin typeface="Segoe UI"/>
              </a:rPr>
              <a:t>ConvoScore  ·  Production roadmap</a:t>
            </a:r>
          </a:p>
        </p:txBody>
      </p:sp>
      <p:sp>
        <p:nvSpPr>
          <p:cNvPr id="44" name="TextBox 43"/>
          <p:cNvSpPr txBox="1"/>
          <p:nvPr/>
        </p:nvSpPr>
        <p:spPr>
          <a:xfrm>
            <a:off x="10362895" y="6382512"/>
            <a:ext cx="1188720" cy="292608"/>
          </a:xfrm>
          <a:prstGeom prst="rect">
            <a:avLst/>
          </a:prstGeom>
          <a:noFill/>
        </p:spPr>
        <p:txBody>
          <a:bodyPr wrap="none">
            <a:spAutoFit/>
          </a:bodyPr>
          <a:lstStyle/>
          <a:p>
            <a:pPr algn="r"/>
            <a:r>
              <a:rPr sz="1000" b="0" i="0">
                <a:solidFill>
                  <a:srgbClr val="B7C2CC"/>
                </a:solidFill>
                <a:latin typeface="Segoe U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